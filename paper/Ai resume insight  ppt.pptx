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82" r:id="rId8"/>
    <p:sldId id="286" r:id="rId9"/>
    <p:sldId id="288" r:id="rId10"/>
    <p:sldId id="287" r:id="rId11"/>
    <p:sldId id="276" r:id="rId12"/>
    <p:sldId id="277" r:id="rId13"/>
    <p:sldId id="285" r:id="rId14"/>
    <p:sldId id="266" r:id="rId15"/>
    <p:sldId id="267" r:id="rId16"/>
    <p:sldId id="274" r:id="rId17"/>
    <p:sldId id="281" r:id="rId18"/>
    <p:sldId id="268" r:id="rId19"/>
    <p:sldId id="280" r:id="rId20"/>
    <p:sldId id="269" r:id="rId21"/>
    <p:sldId id="278" r:id="rId22"/>
    <p:sldId id="279" r:id="rId23"/>
    <p:sldId id="283"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9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DB4E47-8EFA-407C-89F8-463265A3EB8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37"/>
  </p:normalViewPr>
  <p:slideViewPr>
    <p:cSldViewPr snapToGrid="0" showGuides="1">
      <p:cViewPr>
        <p:scale>
          <a:sx n="75" d="100"/>
          <a:sy n="75" d="100"/>
        </p:scale>
        <p:origin x="948" y="92"/>
      </p:cViewPr>
      <p:guideLst>
        <p:guide orient="horz" pos="1620"/>
        <p:guide pos="2894"/>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
        <p:cNvGrpSpPr/>
        <p:nvPr/>
      </p:nvGrpSpPr>
      <p:grpSpPr>
        <a:xfrm>
          <a:off x="0" y="0"/>
          <a:ext cx="0" cy="0"/>
          <a:chOff x="0" y="0"/>
          <a:chExt cx="0" cy="0"/>
        </a:xfrm>
      </p:grpSpPr>
      <p:sp>
        <p:nvSpPr>
          <p:cNvPr id="68" name="Google Shape;68;g3273bf52533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273bf52533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
        <p:cNvGrpSpPr/>
        <p:nvPr/>
      </p:nvGrpSpPr>
      <p:grpSpPr>
        <a:xfrm>
          <a:off x="0" y="0"/>
          <a:ext cx="0" cy="0"/>
          <a:chOff x="0" y="0"/>
          <a:chExt cx="0" cy="0"/>
        </a:xfrm>
      </p:grpSpPr>
      <p:sp>
        <p:nvSpPr>
          <p:cNvPr id="87" name="Google Shape;87;g3273bf5253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g3273bf52533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g3273bf52533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273bf52533_0_1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g3273bf5253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273bf52533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g3273bf52533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273bf52533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g3273bf5253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273bf52533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g3273bf5253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273bf52533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2"/>
        <p:cNvGrpSpPr/>
        <p:nvPr/>
      </p:nvGrpSpPr>
      <p:grpSpPr>
        <a:xfrm>
          <a:off x="0" y="0"/>
          <a:ext cx="0" cy="0"/>
          <a:chOff x="0" y="0"/>
          <a:chExt cx="0" cy="0"/>
        </a:xfrm>
      </p:grpSpPr>
      <p:sp>
        <p:nvSpPr>
          <p:cNvPr id="133" name="Google Shape;133;g3273bf52533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273bf52533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6"/>
        <p:cNvGrpSpPr/>
        <p:nvPr/>
      </p:nvGrpSpPr>
      <p:grpSpPr>
        <a:xfrm>
          <a:off x="0" y="0"/>
          <a:ext cx="0" cy="0"/>
          <a:chOff x="0" y="0"/>
          <a:chExt cx="0" cy="0"/>
        </a:xfrm>
      </p:grpSpPr>
      <p:sp>
        <p:nvSpPr>
          <p:cNvPr id="117" name="Google Shape;117;g333cb459f0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33cb459f06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g333cb459f06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33cb459f06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4683919"/>
            <a:ext cx="2133600" cy="357188"/>
          </a:xfrm>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a:xfrm>
            <a:off x="3124200" y="4683919"/>
            <a:ext cx="2895600" cy="357188"/>
          </a:xfrm>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295804"/>
            <a:ext cx="8100000" cy="594000"/>
          </a:xfrm>
        </p:spPr>
        <p:txBody>
          <a:bodyPr/>
          <a:lstStyle>
            <a:lvl1pPr algn="ctr">
              <a:defRPr sz="24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a:xfrm>
            <a:off x="459000" y="4735800"/>
            <a:ext cx="2025000" cy="237600"/>
          </a:xfrm>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a:xfrm>
            <a:off x="3087000" y="4735800"/>
            <a:ext cx="2970000" cy="2376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tags" Target="../tags/tag5.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4.jpe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53"/>
        <p:cNvGrpSpPr/>
        <p:nvPr/>
      </p:nvGrpSpPr>
      <p:grpSpPr>
        <a:xfrm>
          <a:off x="0" y="0"/>
          <a:ext cx="0" cy="0"/>
          <a:chOff x="0" y="0"/>
          <a:chExt cx="0" cy="0"/>
        </a:xfrm>
      </p:grpSpPr>
      <p:sp>
        <p:nvSpPr>
          <p:cNvPr id="54" name="Google Shape;54;p13"/>
          <p:cNvSpPr/>
          <p:nvPr/>
        </p:nvSpPr>
        <p:spPr>
          <a:xfrm>
            <a:off x="496725" y="1120876"/>
            <a:ext cx="8001300" cy="384195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dirty="0">
                <a:solidFill>
                  <a:srgbClr val="0070C0"/>
                </a:solidFill>
              </a:rPr>
              <a:t>Experiential Learning </a:t>
            </a:r>
            <a:endParaRPr lang="en-US" sz="2400" dirty="0">
              <a:solidFill>
                <a:srgbClr val="0070C0"/>
              </a:solidFill>
            </a:endParaRPr>
          </a:p>
          <a:p>
            <a:pPr marL="0" marR="0" lvl="0" indent="0" algn="ctr" rtl="0">
              <a:lnSpc>
                <a:spcPct val="100000"/>
              </a:lnSpc>
              <a:spcBef>
                <a:spcPts val="0"/>
              </a:spcBef>
              <a:spcAft>
                <a:spcPts val="0"/>
              </a:spcAft>
              <a:buNone/>
            </a:pPr>
            <a:endParaRPr sz="2400" dirty="0">
              <a:solidFill>
                <a:srgbClr val="0070C0"/>
              </a:solidFill>
            </a:endParaRPr>
          </a:p>
          <a:p>
            <a:pPr marL="0" marR="0" lvl="0" indent="0" algn="ctr" rtl="0">
              <a:lnSpc>
                <a:spcPct val="100000"/>
              </a:lnSpc>
              <a:spcBef>
                <a:spcPts val="0"/>
              </a:spcBef>
              <a:spcAft>
                <a:spcPts val="0"/>
              </a:spcAft>
              <a:buNone/>
            </a:pPr>
            <a:r>
              <a:rPr 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rPr>
              <a:t>Phase-</a:t>
            </a:r>
            <a:r>
              <a:rPr lang="en-IN" alt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rPr>
              <a:t>2</a:t>
            </a:r>
            <a:endParaRPr sz="2400" b="1" dirty="0"/>
          </a:p>
          <a:p>
            <a:pPr marL="0" marR="0" lvl="0" indent="0" algn="ctr" rtl="0">
              <a:lnSpc>
                <a:spcPct val="100000"/>
              </a:lnSpc>
              <a:spcBef>
                <a:spcPts val="0"/>
              </a:spcBef>
              <a:spcAft>
                <a:spcPts val="0"/>
              </a:spcAft>
              <a:buNone/>
            </a:pPr>
            <a:endParaRPr dirty="0"/>
          </a:p>
          <a:p>
            <a:pPr marL="0" marR="0" lvl="0" indent="0" algn="ctr" rtl="0">
              <a:lnSpc>
                <a:spcPct val="100000"/>
              </a:lnSpc>
              <a:spcBef>
                <a:spcPts val="0"/>
              </a:spcBef>
              <a:spcAft>
                <a:spcPts val="0"/>
              </a:spcAft>
              <a:buNone/>
            </a:pPr>
            <a:endParaRPr dirty="0"/>
          </a:p>
          <a:p>
            <a:pPr marL="0" marR="0" lvl="0" indent="0" algn="ctr" rtl="0">
              <a:lnSpc>
                <a:spcPct val="100000"/>
              </a:lnSpc>
              <a:spcBef>
                <a:spcPts val="0"/>
              </a:spcBef>
              <a:spcAft>
                <a:spcPts val="0"/>
              </a:spcAft>
              <a:buNone/>
            </a:pPr>
            <a:r>
              <a:rPr lang="en-US" sz="1600" dirty="0">
                <a:solidFill>
                  <a:srgbClr val="FF0000"/>
                </a:solidFill>
              </a:rPr>
              <a:t>Title : </a:t>
            </a:r>
            <a:r>
              <a:rPr lang="en-US" altLang="en-US" sz="1600" dirty="0">
                <a:solidFill>
                  <a:srgbClr val="FF0000"/>
                </a:solidFill>
              </a:rPr>
              <a:t>AI Resume Insight: Intelligent Analysis for Career Growth</a:t>
            </a:r>
            <a:endParaRPr lang="en-US" altLang="en-US" sz="1600" dirty="0">
              <a:solidFill>
                <a:srgbClr val="FF0000"/>
              </a:solidFill>
            </a:endParaRPr>
          </a:p>
          <a:p>
            <a:pPr marL="0" marR="0" lvl="0" indent="0" algn="l" rtl="0">
              <a:lnSpc>
                <a:spcPct val="100000"/>
              </a:lnSpc>
              <a:spcBef>
                <a:spcPts val="0"/>
              </a:spcBef>
              <a:spcAft>
                <a:spcPts val="0"/>
              </a:spcAft>
              <a:buNone/>
            </a:pPr>
            <a:endParaRPr sz="1600" dirty="0">
              <a:solidFill>
                <a:srgbClr val="FF0000"/>
              </a:solidFill>
            </a:endParaRPr>
          </a:p>
          <a:p>
            <a:pPr marL="0" marR="0" lvl="0" indent="0" algn="ctr" rtl="0">
              <a:lnSpc>
                <a:spcPct val="100000"/>
              </a:lnSpc>
              <a:spcBef>
                <a:spcPts val="0"/>
              </a:spcBef>
              <a:spcAft>
                <a:spcPts val="0"/>
              </a:spcAft>
              <a:buNone/>
            </a:pPr>
            <a:r>
              <a:rPr lang="en-IN" altLang="en-US" dirty="0"/>
              <a:t>Prajwal CS-1RV23IS085</a:t>
            </a:r>
            <a:endParaRPr lang="en-US" dirty="0"/>
          </a:p>
          <a:p>
            <a:pPr marL="0" marR="0" lvl="0" indent="0" algn="ctr" rtl="0">
              <a:lnSpc>
                <a:spcPct val="100000"/>
              </a:lnSpc>
              <a:spcBef>
                <a:spcPts val="0"/>
              </a:spcBef>
              <a:spcAft>
                <a:spcPts val="0"/>
              </a:spcAft>
              <a:buNone/>
            </a:pPr>
            <a:r>
              <a:rPr lang="en-IN" dirty="0"/>
              <a:t>R Abhi-1RV23IS097</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146756" y="968910"/>
            <a:ext cx="8884356" cy="401004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Topic </a:t>
            </a:r>
            <a:endPar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nSpc>
                <a:spcPct val="150000"/>
              </a:lnSpc>
              <a:buClr>
                <a:schemeClr val="dk1"/>
              </a:buClr>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Topic relevance to courses</a:t>
            </a:r>
            <a:endPar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Literature Review</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Motivation</a:t>
            </a:r>
            <a:endPar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identification in relevant area/topic</a:t>
            </a:r>
            <a:endPar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Formulation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Objectives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50000"/>
              </a:lnSpc>
              <a:spcBef>
                <a:spcPts val="0"/>
              </a:spcBef>
              <a:spcAft>
                <a:spcPts val="0"/>
              </a:spcAft>
              <a:buClr>
                <a:schemeClr val="dk1"/>
              </a:buClr>
              <a:buSzPts val="1800"/>
              <a:buFont typeface="Times New Roman" panose="02020603050405020304"/>
              <a:buChar char="●"/>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References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 name="Google Shape;60;p14"/>
          <p:cNvSpPr txBox="1">
            <a:spLocks noGrp="1"/>
          </p:cNvSpPr>
          <p:nvPr>
            <p:ph type="title"/>
          </p:nvPr>
        </p:nvSpPr>
        <p:spPr>
          <a:xfrm>
            <a:off x="1129337" y="250292"/>
            <a:ext cx="6919194"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000"/>
              <a:buNone/>
            </a:pPr>
            <a:r>
              <a:rPr lang="en-US" dirty="0"/>
              <a:t>Agenda</a:t>
            </a:r>
            <a:endParaRPr dirty="0"/>
          </a:p>
        </p:txBody>
      </p:sp>
      <p:pic>
        <p:nvPicPr>
          <p:cNvPr id="2" name="Picture 1" descr="Smart-Resume"/>
          <p:cNvPicPr>
            <a:picLocks noChangeAspect="1"/>
          </p:cNvPicPr>
          <p:nvPr/>
        </p:nvPicPr>
        <p:blipFill>
          <a:blip r:embed="rId2"/>
          <a:stretch>
            <a:fillRect/>
          </a:stretch>
        </p:blipFill>
        <p:spPr>
          <a:xfrm>
            <a:off x="4820920" y="822960"/>
            <a:ext cx="4148455" cy="2188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1862667" y="164550"/>
            <a:ext cx="5012266" cy="804360"/>
          </a:xfrm>
          <a:prstGeom prst="rect">
            <a:avLst/>
          </a:prstGeom>
          <a:noFill/>
          <a:ln>
            <a:noFill/>
          </a:ln>
        </p:spPr>
        <p:txBody>
          <a:bodyPr spcFirstLastPara="1" wrap="square" lIns="91425" tIns="91425" rIns="91425" bIns="91425" anchor="t" anchorCtr="0">
            <a:noAutofit/>
          </a:bodyPr>
          <a:lstStyle/>
          <a:p>
            <a:pPr algn="ctr"/>
            <a:r>
              <a:rPr lang="en-US" sz="2400" b="1" dirty="0">
                <a:latin typeface="Times New Roman" panose="02020603050405020304"/>
                <a:cs typeface="Times New Roman" panose="02020603050405020304"/>
                <a:sym typeface="Times New Roman" panose="02020603050405020304"/>
              </a:rPr>
              <a:t>Introduction to Topic </a:t>
            </a:r>
            <a:b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US"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5" name="Rectangle 3"/>
          <p:cNvSpPr>
            <a:spLocks noGrp="1" noChangeArrowheads="1"/>
          </p:cNvSpPr>
          <p:nvPr>
            <p:ph type="body" idx="1"/>
          </p:nvPr>
        </p:nvSpPr>
        <p:spPr bwMode="auto">
          <a:xfrm>
            <a:off x="212090" y="657860"/>
            <a:ext cx="8763000" cy="406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None/>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today’s competitive job market, resume screening and skill assessment play a crucial role in hiring decisions. Many job seekers face rejection due to poorly structured resumes, lack of keyword optimization, and low ATS compatibility. Additionally, recruiters receive thousands of applications, making AI-driven automation essential for improving hiring efficiency.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proposes an AI-powered Smart Resume Analyzer that evaluates resumes based on ATS compliance, formatting, keyword optimization, and overall strength. It also integrates a coding assessment system to test the technical skills of job seekers. The system predicts job opportunities based on resume quality and coding performance, providing personalized recommendations and career improvement suggestions.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6-Point Star 1"/>
          <p:cNvSpPr/>
          <p:nvPr/>
        </p:nvSpPr>
        <p:spPr>
          <a:xfrm>
            <a:off x="212090" y="1403350"/>
            <a:ext cx="153670" cy="145415"/>
          </a:xfrm>
          <a:prstGeom prst="star6">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6-Point Star 2"/>
          <p:cNvSpPr/>
          <p:nvPr/>
        </p:nvSpPr>
        <p:spPr>
          <a:xfrm>
            <a:off x="212090" y="2748280"/>
            <a:ext cx="154305" cy="168275"/>
          </a:xfrm>
          <a:prstGeom prst="star6">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algn="ctr"/>
            <a:r>
              <a:rPr lang="en-US" sz="2400" b="1" dirty="0">
                <a:latin typeface="Times New Roman" panose="02020603050405020304"/>
                <a:cs typeface="Times New Roman" panose="02020603050405020304"/>
                <a:sym typeface="Times New Roman" panose="02020603050405020304"/>
              </a:rPr>
              <a:t>Topic relevance to courses</a:t>
            </a:r>
            <a:b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Placeholder 1"/>
          <p:cNvSpPr>
            <a:spLocks noGrp="1" noChangeArrowheads="1"/>
          </p:cNvSpPr>
          <p:nvPr>
            <p:ph type="body" idx="1"/>
          </p:nvPr>
        </p:nvSpPr>
        <p:spPr bwMode="auto">
          <a:xfrm>
            <a:off x="129540" y="239395"/>
            <a:ext cx="8941435" cy="5306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Networks: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HTTP &amp; WebSockets – Used for real-time resume analysis, coding assessment, and leaderboard updates.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Computing &amp; API Integration – Stores resumes securely and connects with job databases (LinkedIn, Indeed, etc.).</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Transmission &amp; Security – Ensures secure user authentication and encrypted resume storage.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Discrete Mathematics:</a:t>
            </a:r>
            <a:endParaRPr kumimoji="0" lang="en-US" altLang="en-US" sz="16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 Theory &amp; Logic – Used in resume keyword matching and applicant-job compatibility scoring.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Probability &amp; Statistics – Helps in job prediction models based on resume strengths and market trends.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Graph Theory – Can be applied for network-based job recommendations using graph traversal algorithms.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Boolean Algebra – Used in decision-making algorithms for evaluating resume strength and coding scores.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Where it is Implemented?</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Graph theory concepts help create an AI-driven recommendation engine for job predictions.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Statistical modeling ensures accurate ATS and job-fit scoring.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765810" y="614045"/>
            <a:ext cx="3048000" cy="306705"/>
          </a:xfrm>
          <a:prstGeom prst="rect">
            <a:avLst/>
          </a:prstGeom>
          <a:noFill/>
        </p:spPr>
        <p:txBody>
          <a:bodyPr wrap="square" rtlCol="0">
            <a:sp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sp>
        <p:nvSpPr>
          <p:cNvPr id="3" name="Text Placeholder 2"/>
          <p:cNvSpPr>
            <a:spLocks noGrp="1"/>
          </p:cNvSpPr>
          <p:nvPr>
            <p:ph type="body" idx="1"/>
          </p:nvPr>
        </p:nvSpPr>
        <p:spPr>
          <a:xfrm>
            <a:off x="102235" y="118745"/>
            <a:ext cx="8946515" cy="4450080"/>
          </a:xfrm>
        </p:spPr>
        <p:txBody>
          <a:bodyPr/>
          <a:p>
            <a:pPr marL="0" marR="0" lvl="0" indent="0" algn="l" defTabSz="914400" rtl="0" eaLnBrk="0" fontAlgn="base" latinLnBrk="0" hangingPunct="0">
              <a:lnSpc>
                <a:spcPct val="100000"/>
              </a:lnSpc>
              <a:spcBef>
                <a:spcPct val="0"/>
              </a:spcBef>
              <a:spcAft>
                <a:spcPct val="0"/>
              </a:spcAft>
              <a:buClrTx/>
              <a:buSzTx/>
              <a:buFontTx/>
              <a:buNone/>
            </a:pP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a:t>
            </a:r>
            <a:r>
              <a:rPr lang="en-US" altLang="en-US" b="1" dirty="0">
                <a:ln>
                  <a:noFill/>
                </a:ln>
                <a:solidFill>
                  <a:schemeClr val="tx1"/>
                </a:solidFill>
                <a:effectLst/>
                <a:latin typeface="Times New Roman" panose="02020603050405020304" pitchFamily="18" charset="0"/>
                <a:cs typeface="Times New Roman" panose="02020603050405020304" pitchFamily="18" charset="0"/>
                <a:sym typeface="+mn-ea"/>
              </a:rPr>
              <a:t>Design and Analysis of Algorithms (DAA):</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Time and Space Complexity Analysis – AI assesses coding solutions based on execution time and memory usage.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 Sorting &amp; Searching Algorithms – Used in resume ranking, job prediction, and leaderboard management.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Dynamic Programming &amp; Greedy Algorithms – Used to evaluate optimal resume keyword selection and skill improvement pathways</a:t>
            </a:r>
            <a:r>
              <a:rPr lang="en-IN" altLang="en-US" dirty="0">
                <a:ln>
                  <a:noFill/>
                </a:ln>
                <a:solidFill>
                  <a:schemeClr val="tx1"/>
                </a:solidFill>
                <a:effectLst/>
                <a:latin typeface="Times New Roman" panose="02020603050405020304" pitchFamily="18" charset="0"/>
                <a:cs typeface="Times New Roman" panose="02020603050405020304" pitchFamily="18" charset="0"/>
                <a:sym typeface="+mn-ea"/>
              </a:rPr>
              <a:t> and </a:t>
            </a:r>
            <a:r>
              <a:rPr lang="en-US" altLang="en-US" dirty="0">
                <a:ln>
                  <a:noFill/>
                </a:ln>
                <a:solidFill>
                  <a:schemeClr val="tx1"/>
                </a:solidFill>
                <a:effectLst/>
                <a:latin typeface="Times New Roman" panose="02020603050405020304" pitchFamily="18" charset="0"/>
                <a:cs typeface="Times New Roman" panose="02020603050405020304" pitchFamily="18" charset="0"/>
                <a:sym typeface="+mn-ea"/>
              </a:rPr>
              <a:t>maximize ATS score</a:t>
            </a:r>
            <a:endParaRPr lang="en-US" altLang="en-US" dirty="0">
              <a:ln>
                <a:noFill/>
              </a:ln>
              <a:solidFill>
                <a:schemeClr val="tx1"/>
              </a:solidFill>
              <a:effectLst/>
              <a:latin typeface="Times New Roman" panose="02020603050405020304" pitchFamily="18" charset="0"/>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p>
          <a:p>
            <a:pPr marL="0" marR="0" lvl="0" indent="0" algn="l" defTabSz="914400" rtl="0" eaLnBrk="0" fontAlgn="base" latinLnBrk="0" hangingPunct="0">
              <a:lnSpc>
                <a:spcPct val="100000"/>
              </a:lnSpc>
              <a:spcBef>
                <a:spcPct val="0"/>
              </a:spcBef>
              <a:spcAft>
                <a:spcPct val="0"/>
              </a:spcAft>
              <a:buClrTx/>
              <a:buSzTx/>
              <a:buFontTx/>
              <a:buChar char="•"/>
            </a:pPr>
            <a:endParaRPr lang="en-US"/>
          </a:p>
        </p:txBody>
      </p:sp>
      <p:pic>
        <p:nvPicPr>
          <p:cNvPr id="4" name="Picture 3" descr="_- visual selection (1)"/>
          <p:cNvPicPr>
            <a:picLocks noChangeAspect="1"/>
          </p:cNvPicPr>
          <p:nvPr/>
        </p:nvPicPr>
        <p:blipFill>
          <a:blip r:embed="rId1"/>
          <a:stretch>
            <a:fillRect/>
          </a:stretch>
        </p:blipFill>
        <p:spPr>
          <a:xfrm>
            <a:off x="3181350" y="2292985"/>
            <a:ext cx="4856480" cy="28073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sp>
        <p:nvSpPr>
          <p:cNvPr id="3" name="Text Placeholder 2"/>
          <p:cNvSpPr>
            <a:spLocks noGrp="1"/>
          </p:cNvSpPr>
          <p:nvPr>
            <p:ph type="body" idx="1"/>
          </p:nvPr>
        </p:nvSpPr>
        <p:spPr>
          <a:xfrm>
            <a:off x="311785" y="182880"/>
            <a:ext cx="8520430" cy="4385945"/>
          </a:xfrm>
        </p:spPr>
        <p:txBody>
          <a:bodyPr/>
          <a:p>
            <a:r>
              <a:rPr lang="en-IN" altLang="en-US"/>
              <a:t>                                        </a:t>
            </a:r>
            <a:r>
              <a:rPr lang="en-IN" altLang="en-US" sz="2400" b="1">
                <a:ln/>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PROTOTYPE</a:t>
            </a:r>
            <a:endParaRPr lang="en-IN" altLang="en-US" sz="2400" b="1">
              <a:ln/>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altLang="en-US" sz="2400" b="1">
              <a:ln/>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marL="114300" indent="0">
              <a:buNone/>
            </a:pPr>
            <a:endParaRPr lang="en-IN" altLang="en-US" sz="2400" b="1">
              <a:ln/>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4" name="Picture 3" descr="RVCE LOGO"/>
          <p:cNvPicPr>
            <a:picLocks noChangeAspect="1"/>
          </p:cNvPicPr>
          <p:nvPr/>
        </p:nvPicPr>
        <p:blipFill>
          <a:blip r:embed="rId1"/>
          <a:stretch>
            <a:fillRect/>
          </a:stretch>
        </p:blipFill>
        <p:spPr>
          <a:xfrm>
            <a:off x="162560" y="57785"/>
            <a:ext cx="2193290" cy="868045"/>
          </a:xfrm>
          <a:prstGeom prst="rect">
            <a:avLst/>
          </a:prstGeom>
        </p:spPr>
      </p:pic>
      <p:pic>
        <p:nvPicPr>
          <p:cNvPr id="5" name="Picture 4" descr="resumeimage 1"/>
          <p:cNvPicPr>
            <a:picLocks noChangeAspect="1"/>
          </p:cNvPicPr>
          <p:nvPr/>
        </p:nvPicPr>
        <p:blipFill>
          <a:blip r:embed="rId2"/>
          <a:stretch>
            <a:fillRect/>
          </a:stretch>
        </p:blipFill>
        <p:spPr>
          <a:xfrm>
            <a:off x="162560" y="925830"/>
            <a:ext cx="4327525" cy="2285365"/>
          </a:xfrm>
          <a:prstGeom prst="rect">
            <a:avLst/>
          </a:prstGeom>
        </p:spPr>
      </p:pic>
      <p:pic>
        <p:nvPicPr>
          <p:cNvPr id="6" name="Picture 5" descr="resume image 2"/>
          <p:cNvPicPr>
            <a:picLocks noChangeAspect="1"/>
          </p:cNvPicPr>
          <p:nvPr/>
        </p:nvPicPr>
        <p:blipFill>
          <a:blip r:embed="rId3"/>
          <a:stretch>
            <a:fillRect/>
          </a:stretch>
        </p:blipFill>
        <p:spPr>
          <a:xfrm>
            <a:off x="4584700" y="2053590"/>
            <a:ext cx="4247515" cy="23082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sp>
        <p:nvSpPr>
          <p:cNvPr id="3" name="Text Placeholder 2"/>
          <p:cNvSpPr>
            <a:spLocks noGrp="1"/>
          </p:cNvSpPr>
          <p:nvPr>
            <p:ph type="body" idx="1"/>
          </p:nvPr>
        </p:nvSpPr>
        <p:spPr>
          <a:xfrm>
            <a:off x="80645" y="154305"/>
            <a:ext cx="8751570" cy="4414520"/>
          </a:xfrm>
        </p:spPr>
        <p:txBody>
          <a:bodyPr/>
          <a:p>
            <a:endParaRPr lang="en-US"/>
          </a:p>
        </p:txBody>
      </p:sp>
      <p:pic>
        <p:nvPicPr>
          <p:cNvPr id="4" name="Picture 3" descr="RVCE LOGO"/>
          <p:cNvPicPr>
            <a:picLocks noChangeAspect="1"/>
          </p:cNvPicPr>
          <p:nvPr/>
        </p:nvPicPr>
        <p:blipFill>
          <a:blip r:embed="rId1"/>
          <a:stretch>
            <a:fillRect/>
          </a:stretch>
        </p:blipFill>
        <p:spPr>
          <a:xfrm>
            <a:off x="162560" y="57785"/>
            <a:ext cx="2193290" cy="868045"/>
          </a:xfrm>
          <a:prstGeom prst="rect">
            <a:avLst/>
          </a:prstGeom>
        </p:spPr>
      </p:pic>
      <p:pic>
        <p:nvPicPr>
          <p:cNvPr id="5" name="Picture 4" descr="resumeimage 3"/>
          <p:cNvPicPr>
            <a:picLocks noChangeAspect="1"/>
          </p:cNvPicPr>
          <p:nvPr/>
        </p:nvPicPr>
        <p:blipFill>
          <a:blip r:embed="rId2"/>
          <a:stretch>
            <a:fillRect/>
          </a:stretch>
        </p:blipFill>
        <p:spPr>
          <a:xfrm>
            <a:off x="4180840" y="2118995"/>
            <a:ext cx="4963160" cy="2727960"/>
          </a:xfrm>
          <a:prstGeom prst="rect">
            <a:avLst/>
          </a:prstGeom>
        </p:spPr>
      </p:pic>
      <p:pic>
        <p:nvPicPr>
          <p:cNvPr id="6" name="Picture 5" descr="resume image4"/>
          <p:cNvPicPr>
            <a:picLocks noChangeAspect="1"/>
          </p:cNvPicPr>
          <p:nvPr/>
        </p:nvPicPr>
        <p:blipFill>
          <a:blip r:embed="rId3"/>
          <a:stretch>
            <a:fillRect/>
          </a:stretch>
        </p:blipFill>
        <p:spPr>
          <a:xfrm>
            <a:off x="80645" y="925830"/>
            <a:ext cx="4099560" cy="3219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sp>
        <p:nvSpPr>
          <p:cNvPr id="3" name="Text Placeholder 2"/>
          <p:cNvSpPr>
            <a:spLocks noGrp="1"/>
          </p:cNvSpPr>
          <p:nvPr>
            <p:ph type="body" idx="1"/>
          </p:nvPr>
        </p:nvSpPr>
        <p:spPr>
          <a:xfrm>
            <a:off x="167640" y="168910"/>
            <a:ext cx="8664575" cy="4399915"/>
          </a:xfrm>
        </p:spPr>
        <p:txBody>
          <a:bodyPr/>
          <a:p>
            <a:endParaRPr lang="en-US"/>
          </a:p>
        </p:txBody>
      </p:sp>
      <p:pic>
        <p:nvPicPr>
          <p:cNvPr id="4" name="Picture 3" descr="RVCE LOGO"/>
          <p:cNvPicPr>
            <a:picLocks noChangeAspect="1"/>
          </p:cNvPicPr>
          <p:nvPr/>
        </p:nvPicPr>
        <p:blipFill>
          <a:blip r:embed="rId1"/>
          <a:stretch>
            <a:fillRect/>
          </a:stretch>
        </p:blipFill>
        <p:spPr>
          <a:xfrm>
            <a:off x="162560" y="57785"/>
            <a:ext cx="2193290" cy="868045"/>
          </a:xfrm>
          <a:prstGeom prst="rect">
            <a:avLst/>
          </a:prstGeom>
        </p:spPr>
      </p:pic>
      <p:pic>
        <p:nvPicPr>
          <p:cNvPr id="5" name="Picture 4" descr="resume image 5"/>
          <p:cNvPicPr>
            <a:picLocks noChangeAspect="1"/>
          </p:cNvPicPr>
          <p:nvPr/>
        </p:nvPicPr>
        <p:blipFill>
          <a:blip r:embed="rId2"/>
          <a:stretch>
            <a:fillRect/>
          </a:stretch>
        </p:blipFill>
        <p:spPr>
          <a:xfrm>
            <a:off x="59690" y="925830"/>
            <a:ext cx="4745355" cy="3067050"/>
          </a:xfrm>
          <a:prstGeom prst="rect">
            <a:avLst/>
          </a:prstGeom>
        </p:spPr>
      </p:pic>
      <p:pic>
        <p:nvPicPr>
          <p:cNvPr id="6" name="Picture 5" descr="resume image 6"/>
          <p:cNvPicPr>
            <a:picLocks noChangeAspect="1"/>
          </p:cNvPicPr>
          <p:nvPr/>
        </p:nvPicPr>
        <p:blipFill>
          <a:blip r:embed="rId3"/>
          <a:stretch>
            <a:fillRect/>
          </a:stretch>
        </p:blipFill>
        <p:spPr>
          <a:xfrm>
            <a:off x="4906010" y="1706880"/>
            <a:ext cx="4093210" cy="31470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a:latin typeface="Times New Roman" panose="02020603050405020304"/>
                <a:ea typeface="Times New Roman" panose="02020603050405020304"/>
                <a:cs typeface="Times New Roman" panose="02020603050405020304"/>
                <a:sym typeface="Times New Roman" panose="02020603050405020304"/>
              </a:rPr>
              <a:t>Literature Review </a:t>
            </a:r>
            <a:endParaRPr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91" name="Google Shape;91;p19"/>
          <p:cNvSpPr txBox="1">
            <a:spLocks noGrp="1"/>
          </p:cNvSpPr>
          <p:nvPr>
            <p:ph type="body" idx="1"/>
          </p:nvPr>
        </p:nvSpPr>
        <p:spPr>
          <a:xfrm>
            <a:off x="129756" y="968860"/>
            <a:ext cx="8884500" cy="4010100"/>
          </a:xfrm>
          <a:prstGeom prst="rect">
            <a:avLst/>
          </a:prstGeom>
          <a:noFill/>
          <a:ln>
            <a:noFill/>
          </a:ln>
        </p:spPr>
        <p:txBody>
          <a:bodyPr spcFirstLastPara="1" wrap="square" lIns="91425" tIns="91425" rIns="91425" bIns="91425" anchor="t" anchorCtr="0">
            <a:noAutofit/>
          </a:bodyPr>
          <a:lstStyle/>
          <a:p>
            <a:pPr marL="285750" lvl="0" indent="-171450" algn="just" rtl="0">
              <a:lnSpc>
                <a:spcPct val="115000"/>
              </a:lnSpc>
              <a:spcBef>
                <a:spcPts val="0"/>
              </a:spcBef>
              <a:spcAft>
                <a:spcPts val="0"/>
              </a:spcAft>
              <a:buSzPts val="1800"/>
              <a:buNone/>
            </a:pPr>
            <a:endParaRPr sz="1100" b="1">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just" rtl="0">
              <a:lnSpc>
                <a:spcPct val="115000"/>
              </a:lnSpc>
              <a:spcBef>
                <a:spcPts val="1200"/>
              </a:spcBef>
              <a:spcAft>
                <a:spcPts val="1200"/>
              </a:spcAft>
              <a:buSzPts val="1800"/>
              <a:buNone/>
            </a:pPr>
            <a:endParaRPr sz="1100">
              <a:latin typeface="Times New Roman" panose="02020603050405020304"/>
              <a:ea typeface="Times New Roman" panose="02020603050405020304"/>
              <a:cs typeface="Times New Roman" panose="02020603050405020304"/>
              <a:sym typeface="Times New Roman" panose="02020603050405020304"/>
            </a:endParaRPr>
          </a:p>
        </p:txBody>
      </p:sp>
      <p:pic>
        <p:nvPicPr>
          <p:cNvPr id="7" name="Picture 6" descr="RVCE LOGO"/>
          <p:cNvPicPr>
            <a:picLocks noChangeAspect="1"/>
          </p:cNvPicPr>
          <p:nvPr/>
        </p:nvPicPr>
        <p:blipFill>
          <a:blip r:embed="rId1"/>
          <a:stretch>
            <a:fillRect/>
          </a:stretch>
        </p:blipFill>
        <p:spPr>
          <a:xfrm>
            <a:off x="424815" y="106680"/>
            <a:ext cx="1821815" cy="741045"/>
          </a:xfrm>
          <a:prstGeom prst="rect">
            <a:avLst/>
          </a:prstGeom>
        </p:spPr>
      </p:pic>
      <p:graphicFrame>
        <p:nvGraphicFramePr>
          <p:cNvPr id="92" name="Google Shape;92;p19"/>
          <p:cNvGraphicFramePr/>
          <p:nvPr>
            <p:custDataLst>
              <p:tags r:id="rId2"/>
            </p:custDataLst>
          </p:nvPr>
        </p:nvGraphicFramePr>
        <p:xfrm>
          <a:off x="73025" y="969010"/>
          <a:ext cx="8941435" cy="5715000"/>
        </p:xfrm>
        <a:graphic>
          <a:graphicData uri="http://schemas.openxmlformats.org/drawingml/2006/table">
            <a:tbl>
              <a:tblPr>
                <a:noFill/>
                <a:tableStyleId>{4EDB4E47-8EFA-407C-89F8-463265A3EB86}</a:tableStyleId>
              </a:tblPr>
              <a:tblGrid>
                <a:gridCol w="721360"/>
                <a:gridCol w="854710"/>
                <a:gridCol w="1067435"/>
                <a:gridCol w="1616075"/>
                <a:gridCol w="2115820"/>
                <a:gridCol w="2566035"/>
              </a:tblGrid>
              <a:tr h="5715000">
                <a:tc>
                  <a:txBody>
                    <a:bodyPr/>
                    <a:lstStyle/>
                    <a:p>
                      <a:pPr marL="0" lvl="0" indent="0" algn="just" rtl="0">
                        <a:spcBef>
                          <a:spcPts val="0"/>
                        </a:spcBef>
                        <a:spcAft>
                          <a:spcPts val="0"/>
                        </a:spcAft>
                        <a:buNone/>
                      </a:pPr>
                      <a:r>
                        <a:rPr lang="en-US" sz="1100" b="1" u="sng" dirty="0">
                          <a:latin typeface="Times New Roman" panose="02020603050405020304"/>
                          <a:ea typeface="Times New Roman" panose="02020603050405020304"/>
                          <a:cs typeface="Times New Roman" panose="02020603050405020304"/>
                          <a:sym typeface="Times New Roman" panose="02020603050405020304"/>
                        </a:rPr>
                        <a:t>Sl. No</a:t>
                      </a:r>
                      <a:endParaRPr lang="en-US"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1</a:t>
                      </a:r>
                      <a:r>
                        <a:rPr lang="en-IN" sz="1100" b="1" dirty="0">
                          <a:latin typeface="Times New Roman" panose="02020603050405020304"/>
                          <a:ea typeface="Times New Roman" panose="02020603050405020304"/>
                          <a:cs typeface="Times New Roman" panose="02020603050405020304"/>
                          <a:sym typeface="Times New Roman" panose="02020603050405020304"/>
                        </a:rPr>
                        <a:t>.</a:t>
                      </a:r>
                      <a:endParaRPr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u="sng" dirty="0">
                          <a:latin typeface="Times New Roman" panose="02020603050405020304"/>
                          <a:ea typeface="Times New Roman" panose="02020603050405020304"/>
                          <a:cs typeface="Times New Roman" panose="02020603050405020304"/>
                          <a:sym typeface="Times New Roman" panose="02020603050405020304"/>
                        </a:rPr>
                        <a:t>  </a:t>
                      </a: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2.</a:t>
                      </a: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3</a:t>
                      </a:r>
                      <a:r>
                        <a:rPr lang="en-IN" sz="1100" b="1" dirty="0">
                          <a:latin typeface="Times New Roman" panose="02020603050405020304"/>
                          <a:ea typeface="Times New Roman" panose="02020603050405020304"/>
                          <a:cs typeface="Times New Roman" panose="02020603050405020304"/>
                          <a:sym typeface="Times New Roman" panose="02020603050405020304"/>
                        </a:rPr>
                        <a:t>.</a:t>
                      </a: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just" rtl="0">
                        <a:spcBef>
                          <a:spcPts val="0"/>
                        </a:spcBef>
                        <a:spcAft>
                          <a:spcPts val="0"/>
                        </a:spcAft>
                        <a:buNone/>
                      </a:pPr>
                      <a:r>
                        <a:rPr lang="en-US" sz="1100" b="1" u="sng" dirty="0">
                          <a:latin typeface="Times New Roman" panose="02020603050405020304"/>
                          <a:ea typeface="Times New Roman" panose="02020603050405020304"/>
                          <a:cs typeface="Times New Roman" panose="02020603050405020304"/>
                          <a:sym typeface="Times New Roman" panose="02020603050405020304"/>
                        </a:rPr>
                        <a:t>year</a:t>
                      </a:r>
                      <a:endParaRPr lang="en-US"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2018</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altLang="en-US" sz="1100" b="0" dirty="0">
                          <a:latin typeface="Times New Roman" panose="02020603050405020304"/>
                          <a:ea typeface="Times New Roman" panose="02020603050405020304"/>
                          <a:cs typeface="Times New Roman" panose="02020603050405020304"/>
                          <a:sym typeface="Times New Roman" panose="02020603050405020304"/>
                        </a:rPr>
                        <a:t>2019</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2020</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just" rtl="0">
                        <a:spcBef>
                          <a:spcPts val="0"/>
                        </a:spcBef>
                        <a:spcAft>
                          <a:spcPts val="0"/>
                        </a:spcAft>
                        <a:buNone/>
                      </a:pPr>
                      <a:r>
                        <a:rPr lang="en-US" sz="1100" b="1" u="sng" dirty="0">
                          <a:latin typeface="Times New Roman" panose="02020603050405020304"/>
                          <a:ea typeface="Times New Roman" panose="02020603050405020304"/>
                          <a:cs typeface="Times New Roman" panose="02020603050405020304"/>
                          <a:sym typeface="Times New Roman" panose="02020603050405020304"/>
                        </a:rPr>
                        <a:t>Author</a:t>
                      </a:r>
                      <a:endParaRPr lang="en-US"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Singh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Patel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Goyal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just" rtl="0">
                        <a:spcBef>
                          <a:spcPts val="0"/>
                        </a:spcBef>
                        <a:spcAft>
                          <a:spcPts val="0"/>
                        </a:spcAft>
                        <a:buNone/>
                      </a:pPr>
                      <a:r>
                        <a:rPr lang="en-US" sz="1100" b="1" u="sng" dirty="0">
                          <a:latin typeface="Times New Roman" panose="02020603050405020304"/>
                          <a:ea typeface="Times New Roman" panose="02020603050405020304"/>
                          <a:cs typeface="Times New Roman" panose="02020603050405020304"/>
                          <a:sym typeface="Times New Roman" panose="02020603050405020304"/>
                        </a:rPr>
                        <a:t>Title</a:t>
                      </a:r>
                      <a:endParaRPr lang="en-US"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Boo</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len</a:t>
                      </a:r>
                      <a:r>
                        <a:rPr lang="en-US" altLang="en-US" sz="1100" b="0" dirty="0">
                          <a:latin typeface="Times New Roman" panose="02020603050405020304"/>
                          <a:ea typeface="Times New Roman" panose="02020603050405020304"/>
                          <a:cs typeface="Times New Roman" panose="02020603050405020304"/>
                          <a:sym typeface="Times New Roman" panose="02020603050405020304"/>
                        </a:rPr>
                        <a:t> Algebra for ATS Resume Filtering</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Machine Learning for Job Match Prediction</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Improving Resume ATS Compatibility through Formatting</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lvl="0" indent="0" algn="just" rtl="0">
                        <a:spcBef>
                          <a:spcPts val="0"/>
                        </a:spcBef>
                        <a:spcAft>
                          <a:spcPts val="0"/>
                        </a:spcAft>
                        <a:buNone/>
                      </a:pPr>
                      <a:r>
                        <a:rPr lang="en-US" sz="1100" b="1" u="sng">
                          <a:latin typeface="Times New Roman" panose="02020603050405020304"/>
                          <a:ea typeface="Times New Roman" panose="02020603050405020304"/>
                          <a:cs typeface="Times New Roman" panose="02020603050405020304"/>
                          <a:sym typeface="Times New Roman" panose="02020603050405020304"/>
                        </a:rPr>
                        <a:t>Methodology</a:t>
                      </a:r>
                      <a:endParaRPr lang="en-US" sz="1100" b="1" u="sng">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Used Boolean search techniques to optimize resume filtering in ATS systems.</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Implemented an SVM-based job recommender system to predict job suitability.</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Researched the impact of resume structuring on ATS ranking using data from 1000+ resumes.</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25" marR="91425" marT="91425" marB="91425"/>
                </a:tc>
                <a:tc>
                  <a:txBody>
                    <a:bodyPr/>
                    <a:lstStyle/>
                    <a:p>
                      <a:pPr marL="0" lvl="0" indent="0" algn="just" rtl="0">
                        <a:spcBef>
                          <a:spcPts val="0"/>
                        </a:spcBef>
                        <a:spcAft>
                          <a:spcPts val="0"/>
                        </a:spcAft>
                        <a:buNone/>
                      </a:pPr>
                      <a:r>
                        <a:rPr lang="en-US" sz="1100" b="1" u="sng" dirty="0">
                          <a:latin typeface="Times New Roman" panose="02020603050405020304"/>
                          <a:ea typeface="Times New Roman" panose="02020603050405020304"/>
                          <a:cs typeface="Times New Roman" panose="02020603050405020304"/>
                          <a:sym typeface="Times New Roman" panose="02020603050405020304"/>
                        </a:rPr>
                        <a:t>Findings</a:t>
                      </a:r>
                      <a:endParaRPr lang="en-US" sz="1100" b="1"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Resumes optimized with Boolean logic had a 20% higher ATS ranking.</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Achieved an </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7</a:t>
                      </a: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 accuracy rate in job role predictions based on resume content</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Well-structured resumes had a 35% higher ATS acceptance rate.</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a:latin typeface="Times New Roman" panose="02020603050405020304"/>
                <a:ea typeface="Times New Roman" panose="02020603050405020304"/>
                <a:cs typeface="Times New Roman" panose="02020603050405020304"/>
                <a:sym typeface="Times New Roman" panose="02020603050405020304"/>
              </a:rPr>
              <a:t> </a:t>
            </a:r>
            <a:endParaRPr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98" name="Google Shape;98;p20"/>
          <p:cNvSpPr txBox="1">
            <a:spLocks noGrp="1"/>
          </p:cNvSpPr>
          <p:nvPr>
            <p:ph type="body" idx="1"/>
          </p:nvPr>
        </p:nvSpPr>
        <p:spPr>
          <a:xfrm>
            <a:off x="129756" y="968860"/>
            <a:ext cx="8884500" cy="4010100"/>
          </a:xfrm>
          <a:prstGeom prst="rect">
            <a:avLst/>
          </a:prstGeom>
          <a:noFill/>
          <a:ln>
            <a:noFill/>
          </a:ln>
        </p:spPr>
        <p:txBody>
          <a:bodyPr spcFirstLastPara="1" wrap="square" lIns="91425" tIns="91425" rIns="91425" bIns="91425" anchor="t" anchorCtr="0">
            <a:noAutofit/>
          </a:bodyPr>
          <a:lstStyle/>
          <a:p>
            <a:pPr marL="285750" lvl="0" indent="-171450" algn="just" rtl="0">
              <a:lnSpc>
                <a:spcPct val="115000"/>
              </a:lnSpc>
              <a:spcBef>
                <a:spcPts val="0"/>
              </a:spcBef>
              <a:spcAft>
                <a:spcPts val="0"/>
              </a:spcAft>
              <a:buSzPts val="1800"/>
              <a:buNone/>
            </a:pPr>
            <a:endParaRPr sz="1100" b="1">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just" rtl="0">
              <a:lnSpc>
                <a:spcPct val="115000"/>
              </a:lnSpc>
              <a:spcBef>
                <a:spcPts val="1200"/>
              </a:spcBef>
              <a:spcAft>
                <a:spcPts val="1200"/>
              </a:spcAft>
              <a:buSzPts val="1800"/>
              <a:buNone/>
            </a:pPr>
            <a:endParaRPr sz="1100">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2" name="Google Shape;92;p19"/>
          <p:cNvGraphicFramePr/>
          <p:nvPr>
            <p:custDataLst>
              <p:tags r:id="rId1"/>
            </p:custDataLst>
          </p:nvPr>
        </p:nvGraphicFramePr>
        <p:xfrm>
          <a:off x="0" y="72390"/>
          <a:ext cx="9136380" cy="8732520"/>
        </p:xfrm>
        <a:graphic>
          <a:graphicData uri="http://schemas.openxmlformats.org/drawingml/2006/table">
            <a:tbl>
              <a:tblPr>
                <a:noFill/>
                <a:tableStyleId>{4EDB4E47-8EFA-407C-89F8-463265A3EB86}</a:tableStyleId>
              </a:tblPr>
              <a:tblGrid>
                <a:gridCol w="683260"/>
                <a:gridCol w="820420"/>
                <a:gridCol w="1136015"/>
                <a:gridCol w="1974215"/>
                <a:gridCol w="1957070"/>
                <a:gridCol w="2565400"/>
              </a:tblGrid>
              <a:tr h="4789170">
                <a:tc>
                  <a:txBody>
                    <a:bodyPr/>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4.</a:t>
                      </a: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5.</a:t>
                      </a: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6.</a:t>
                      </a: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IN" sz="1100" b="0" dirty="0">
                          <a:latin typeface="Times New Roman" panose="02020603050405020304"/>
                          <a:ea typeface="Times New Roman" panose="02020603050405020304"/>
                          <a:cs typeface="Times New Roman" panose="02020603050405020304"/>
                          <a:sym typeface="Times New Roman" panose="02020603050405020304"/>
                        </a:rPr>
                        <a:t>7.</a:t>
                      </a: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2021</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2022</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2022</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2023</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Ramesh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Sharma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Chen &amp; Liu</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Dutta et al</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p>
                      <a:pPr marL="0" lvl="0" indent="0" algn="just" rtl="0">
                        <a:spcBef>
                          <a:spcPts val="0"/>
                        </a:spcBef>
                        <a:spcAft>
                          <a:spcPts val="0"/>
                        </a:spcAft>
                        <a:buNone/>
                      </a:pPr>
                      <a:endParaRPr sz="1100" b="0" u="sng"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Deep Learning for Resume-Job Compatibility</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AI-Driven Resume Skill Recommendations</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Graph-Based Skill Matching for Resume Analysis</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100" b="0" dirty="0">
                          <a:latin typeface="Times New Roman" panose="02020603050405020304"/>
                          <a:ea typeface="Times New Roman" panose="02020603050405020304"/>
                          <a:cs typeface="Times New Roman" panose="02020603050405020304"/>
                          <a:sym typeface="Times New Roman" panose="02020603050405020304"/>
                        </a:rPr>
                        <a:t>Smart Resume Kiosk using IoT and NFC Technology</a:t>
                      </a:r>
                      <a:r>
                        <a:rPr lang="en-IN" altLang="en-US" sz="1100" b="0" dirty="0">
                          <a:latin typeface="Times New Roman" panose="02020603050405020304"/>
                          <a:ea typeface="Times New Roman" panose="02020603050405020304"/>
                          <a:cs typeface="Times New Roman" panose="02020603050405020304"/>
                          <a:sym typeface="Times New Roman" panose="02020603050405020304"/>
                        </a:rPr>
                        <a:t>.</a:t>
                      </a:r>
                      <a:endParaRPr lang="en-IN" altLang="en-US" sz="11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p>
                      <a:pPr marL="0" lvl="0" indent="0" algn="just" rtl="0">
                        <a:spcBef>
                          <a:spcPts val="0"/>
                        </a:spcBef>
                        <a:spcAft>
                          <a:spcPts val="0"/>
                        </a:spcAft>
                        <a:buNone/>
                      </a:pPr>
                      <a:endParaRPr lang="en-US" sz="1100" b="0" u="sng">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2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Used LSTM and BERT models to analyze resume-job compatibility for job recommendations</a:t>
                      </a: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Analyzed job market data and suggested personalized skills &amp; certifications using AI.</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Designed a Bipartite Graph Matching Model for skill-based job matching.</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r>
                        <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Designed a resume submission kiosk that allows NFC-enabled instant resume transfer.</a:t>
                      </a: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spcBef>
                          <a:spcPts val="0"/>
                        </a:spcBef>
                        <a:spcAft>
                          <a:spcPts val="0"/>
                        </a:spcAft>
                        <a:buNone/>
                      </a:pPr>
                      <a:endParaRPr lang="en-US" altLang="en-US" sz="1100" b="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25" marR="91425" marT="91425" marB="91425"/>
                </a:tc>
                <a:tc>
                  <a:txBody>
                    <a:bodyPr/>
                    <a:p>
                      <a:pPr marL="0" lvl="0" indent="0" algn="just" rtl="0">
                        <a:spcBef>
                          <a:spcPts val="0"/>
                        </a:spcBef>
                        <a:spcAft>
                          <a:spcPts val="0"/>
                        </a:spcAft>
                        <a:buNone/>
                      </a:pPr>
                      <a:endParaRPr lang="en-US" altLang="en-US" sz="11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200" b="0" dirty="0">
                          <a:latin typeface="Times New Roman" panose="02020603050405020304"/>
                          <a:ea typeface="Times New Roman" panose="02020603050405020304"/>
                          <a:cs typeface="Times New Roman" panose="02020603050405020304"/>
                          <a:sym typeface="Times New Roman" panose="02020603050405020304"/>
                        </a:rPr>
                        <a:t>Used LSTM and BERT models to analyze resume-job compatibility for job recommendations.</a:t>
                      </a: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200" b="0" dirty="0">
                          <a:latin typeface="Times New Roman" panose="02020603050405020304"/>
                          <a:ea typeface="Times New Roman" panose="02020603050405020304"/>
                          <a:cs typeface="Times New Roman" panose="02020603050405020304"/>
                          <a:sym typeface="Times New Roman" panose="02020603050405020304"/>
                        </a:rPr>
                        <a:t>Candidates following AI recommendations improved their job suitability by 25%.</a:t>
                      </a: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200" b="0" dirty="0">
                          <a:latin typeface="Times New Roman" panose="02020603050405020304"/>
                          <a:ea typeface="Times New Roman" panose="02020603050405020304"/>
                          <a:cs typeface="Times New Roman" panose="02020603050405020304"/>
                          <a:sym typeface="Times New Roman" panose="02020603050405020304"/>
                        </a:rPr>
                        <a:t>Increased the accuracy of job recommendations by 32%.</a:t>
                      </a: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altLang="en-US" sz="1200" b="0" dirty="0">
                          <a:latin typeface="Times New Roman" panose="02020603050405020304"/>
                          <a:ea typeface="Times New Roman" panose="02020603050405020304"/>
                          <a:cs typeface="Times New Roman" panose="02020603050405020304"/>
                          <a:sym typeface="Times New Roman" panose="02020603050405020304"/>
                        </a:rPr>
                        <a:t>Reduced paper-based resume use by 60% at job fairs and hiring events.</a:t>
                      </a: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IN" altLang="en-US" sz="1200" b="0"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endParaRPr lang="en-US" altLang="en-US" sz="1200" b="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pic>
        <p:nvPicPr>
          <p:cNvPr id="7" name="Picture 6" descr="RVCE LOGO"/>
          <p:cNvPicPr>
            <a:picLocks noChangeAspect="1"/>
          </p:cNvPicPr>
          <p:nvPr/>
        </p:nvPicPr>
        <p:blipFill>
          <a:blip r:embed="rId1"/>
          <a:stretch>
            <a:fillRect/>
          </a:stretch>
        </p:blipFill>
        <p:spPr>
          <a:xfrm>
            <a:off x="222885" y="108585"/>
            <a:ext cx="1821815" cy="741045"/>
          </a:xfrm>
          <a:prstGeom prst="rect">
            <a:avLst/>
          </a:prstGeom>
        </p:spPr>
      </p:pic>
      <p:pic>
        <p:nvPicPr>
          <p:cNvPr id="3" name="Picture 2" descr="ai"/>
          <p:cNvPicPr>
            <a:picLocks noChangeAspect="1"/>
          </p:cNvPicPr>
          <p:nvPr/>
        </p:nvPicPr>
        <p:blipFill>
          <a:blip r:embed="rId2"/>
          <a:stretch>
            <a:fillRect/>
          </a:stretch>
        </p:blipFill>
        <p:spPr>
          <a:xfrm>
            <a:off x="2137410" y="107950"/>
            <a:ext cx="5555615" cy="49555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Motivation </a:t>
            </a:r>
            <a:br>
              <a:rPr lang="en-US" sz="2400" b="1" dirty="0">
                <a:latin typeface="Times New Roman" panose="02020603050405020304"/>
                <a:ea typeface="Times New Roman" panose="02020603050405020304"/>
                <a:cs typeface="Times New Roman" panose="02020603050405020304"/>
                <a:sym typeface="Times New Roman" panose="02020603050405020304"/>
              </a:rPr>
            </a:br>
            <a:br>
              <a:rPr lang="en-US" sz="2400" b="1" dirty="0">
                <a:latin typeface="Times New Roman" panose="02020603050405020304"/>
                <a:ea typeface="Times New Roman" panose="02020603050405020304"/>
                <a:cs typeface="Times New Roman" panose="02020603050405020304"/>
                <a:sym typeface="Times New Roman" panose="02020603050405020304"/>
              </a:rPr>
            </a:br>
            <a:br>
              <a:rPr lang="en-US" sz="2400" b="1" dirty="0">
                <a:latin typeface="Times New Roman" panose="02020603050405020304"/>
                <a:ea typeface="Times New Roman" panose="02020603050405020304"/>
                <a:cs typeface="Times New Roman" panose="02020603050405020304"/>
                <a:sym typeface="Times New Roman" panose="02020603050405020304"/>
              </a:rPr>
            </a:br>
            <a:endParaRPr lang="en-US"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a:spLocks noChangeArrowheads="1"/>
          </p:cNvSpPr>
          <p:nvPr/>
        </p:nvSpPr>
        <p:spPr bwMode="auto">
          <a:xfrm>
            <a:off x="107546" y="2569972"/>
            <a:ext cx="8928907"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Text Box 2"/>
          <p:cNvSpPr txBox="1"/>
          <p:nvPr/>
        </p:nvSpPr>
        <p:spPr>
          <a:xfrm>
            <a:off x="107950" y="969010"/>
            <a:ext cx="8841105" cy="3821430"/>
          </a:xfrm>
          <a:prstGeom prst="rect">
            <a:avLst/>
          </a:prstGeom>
          <a:noFill/>
        </p:spPr>
        <p:txBody>
          <a:bodyPr wrap="square" rtlCol="0">
            <a:noAutofit/>
          </a:bodyPr>
          <a:p>
            <a:r>
              <a:rPr lang="en-US" altLang="en-US" sz="1800">
                <a:latin typeface="Times New Roman" panose="02020603050405020304" pitchFamily="18" charset="0"/>
                <a:cs typeface="Times New Roman" panose="02020603050405020304" pitchFamily="18" charset="0"/>
              </a:rPr>
              <a:t>In today's competitive job market, many resumes are rejected due to poor ATS compatibility, improper formatting, and missing industry-specific keywords. Traditional resume screening is inefficient, and candidates often struggle with job-role alignment and technical assessments. Many job seekers lack guidance on improving their resumes and coding proficiency, reducing their chances of securing interviews. This AI-powered system analyzes resumes, evaluates coding skills, and provides personalized job recommendations. By leveraging AI-driven insights, it enhances resume quality, boosts ATS scores, and helps candidates align their skills with industry demands, ultimately increasing job readiness, interview success rates, and career growth opportunities.</a:t>
            </a:r>
            <a:endParaRPr lang="en-US" altLang="en-US" sz="1800">
              <a:latin typeface="Times New Roman" panose="02020603050405020304" pitchFamily="18" charset="0"/>
              <a:cs typeface="Times New Roman" panose="02020603050405020304" pitchFamily="18" charset="0"/>
            </a:endParaRPr>
          </a:p>
          <a:p>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panose="02020603050405020304"/>
                <a:ea typeface="Times New Roman" panose="02020603050405020304"/>
                <a:cs typeface="Times New Roman" panose="02020603050405020304"/>
                <a:sym typeface="Times New Roman" panose="02020603050405020304"/>
              </a:rPr>
              <a:t>FLOW DIAGRAM</a:t>
            </a:r>
            <a:endParaRPr lang="en-IN"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a:spLocks noChangeArrowheads="1"/>
          </p:cNvSpPr>
          <p:nvPr/>
        </p:nvSpPr>
        <p:spPr bwMode="auto">
          <a:xfrm rot="10800000" flipV="1">
            <a:off x="302821" y="2631598"/>
            <a:ext cx="5446046" cy="614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descr="WhatsApp Image 2025-03-24 at 1.49.40 PM"/>
          <p:cNvPicPr>
            <a:picLocks noChangeAspect="1"/>
          </p:cNvPicPr>
          <p:nvPr/>
        </p:nvPicPr>
        <p:blipFill>
          <a:blip r:embed="rId2"/>
          <a:stretch>
            <a:fillRect/>
          </a:stretch>
        </p:blipFill>
        <p:spPr>
          <a:xfrm>
            <a:off x="303530" y="969645"/>
            <a:ext cx="8673465" cy="3681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algn="ctr"/>
            <a:r>
              <a:rPr lang="en-IN" sz="1800" b="1" dirty="0">
                <a:latin typeface="Times New Roman" panose="02020603050405020304"/>
                <a:cs typeface="Times New Roman" panose="02020603050405020304"/>
                <a:sym typeface="Times New Roman" panose="02020603050405020304"/>
              </a:rPr>
              <a:t>Problem identification in relevant area/topic</a:t>
            </a:r>
            <a:br>
              <a:rPr lang="en-IN" sz="1800" b="1" dirty="0">
                <a:latin typeface="Times New Roman" panose="02020603050405020304"/>
                <a:cs typeface="Times New Roman" panose="02020603050405020304"/>
                <a:sym typeface="Times New Roman" panose="02020603050405020304"/>
              </a:rPr>
            </a:br>
            <a:br>
              <a:rPr lang="en-IN" sz="1800" b="1" dirty="0">
                <a:latin typeface="Times New Roman" panose="02020603050405020304"/>
                <a:cs typeface="Times New Roman" panose="02020603050405020304"/>
                <a:sym typeface="Times New Roman" panose="02020603050405020304"/>
              </a:rPr>
            </a:br>
            <a:br>
              <a:rPr lang="en-IN" sz="1800" b="1" dirty="0">
                <a:latin typeface="Times New Roman" panose="02020603050405020304"/>
                <a:cs typeface="Times New Roman" panose="02020603050405020304"/>
                <a:sym typeface="Times New Roman" panose="02020603050405020304"/>
              </a:rPr>
            </a:br>
            <a:br>
              <a:rPr lang="en-IN" sz="1800" b="1" dirty="0">
                <a:latin typeface="Times New Roman" panose="02020603050405020304"/>
                <a:cs typeface="Times New Roman" panose="02020603050405020304"/>
                <a:sym typeface="Times New Roman" panose="02020603050405020304"/>
              </a:rPr>
            </a:br>
            <a:b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br>
              <a:rPr lang="en-US" sz="1800" b="1" dirty="0">
                <a:latin typeface="Times New Roman" panose="02020603050405020304"/>
                <a:ea typeface="Times New Roman" panose="02020603050405020304"/>
                <a:cs typeface="Times New Roman" panose="02020603050405020304"/>
                <a:sym typeface="Times New Roman" panose="02020603050405020304"/>
              </a:rPr>
            </a:br>
            <a:endParaRPr sz="18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4" name="AutoShape 2" descr="Image of "/>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2" name="Text Box 1"/>
          <p:cNvSpPr txBox="1"/>
          <p:nvPr/>
        </p:nvSpPr>
        <p:spPr>
          <a:xfrm>
            <a:off x="175895" y="968375"/>
            <a:ext cx="8891270" cy="565150"/>
          </a:xfrm>
          <a:prstGeom prst="rect">
            <a:avLst/>
          </a:prstGeom>
          <a:noFill/>
        </p:spPr>
        <p:txBody>
          <a:bodyPr wrap="square" rtlCol="0">
            <a:noAutofit/>
          </a:bodyPr>
          <a:p>
            <a:endParaRPr lang="en-US"/>
          </a:p>
        </p:txBody>
      </p:sp>
      <p:sp>
        <p:nvSpPr>
          <p:cNvPr id="5" name="Text Box 4"/>
          <p:cNvSpPr txBox="1"/>
          <p:nvPr/>
        </p:nvSpPr>
        <p:spPr>
          <a:xfrm>
            <a:off x="99060" y="968375"/>
            <a:ext cx="8968740" cy="4055110"/>
          </a:xfrm>
          <a:prstGeom prst="rect">
            <a:avLst/>
          </a:prstGeom>
          <a:noFill/>
        </p:spPr>
        <p:txBody>
          <a:bodyPr wrap="square" rtlCol="0">
            <a:noAutofit/>
          </a:bodyPr>
          <a:p>
            <a:r>
              <a:rPr lang="en-IN" altLang="en-US" sz="1600" b="1" u="sng">
                <a:latin typeface="Times New Roman" panose="02020603050405020304" pitchFamily="18" charset="0"/>
                <a:cs typeface="Times New Roman" panose="02020603050405020304" pitchFamily="18" charset="0"/>
              </a:rPr>
              <a:t>1)</a:t>
            </a:r>
            <a:r>
              <a:rPr lang="en-US" altLang="en-US" sz="1600"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Resume Optimization Challenges</a:t>
            </a:r>
            <a:r>
              <a:rPr lang="en-IN" altLang="en-US" sz="1600"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endParaRPr lang="en-US" altLang="en-US" sz="1600"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Low ATS Compatibility – Many resumes fail to pass Applicant Tracking Systems (ATS) due to improper formatting and missing keywords.</a:t>
            </a:r>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Lack of Personalization – Generic resumes don’t align well with specific job descriptions, reducing selection chances.</a:t>
            </a:r>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Poor Resume Structuring – Many applicants struggle with professional formatting and readability, leading to rejections.</a:t>
            </a:r>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IN" altLang="en-US" sz="1600"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altLang="en-US" sz="1600"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Job Search &amp; Application Struggles</a:t>
            </a:r>
            <a:r>
              <a:rPr lang="en-IN" altLang="en-US" sz="1600"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altLang="en-US" sz="1600"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Inefficient Job Matching – Candidates apply to random job postings without knowing which jobs best fit their profile.</a:t>
            </a:r>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Lack of AI-Driven Job Recommendations – Most platforms provide generic job suggestions, not tailored based on skills and resume content.</a:t>
            </a:r>
            <a:endPar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zh-CN"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Manual Effort in Resume Improvements – Job seekers spend hours modifying resumes without professional guidance.</a:t>
            </a:r>
            <a:br>
              <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lang="en-IN" altLang="en-US" sz="1600"/>
          </a:p>
        </p:txBody>
      </p:sp>
      <p:sp>
        <p:nvSpPr>
          <p:cNvPr id="3" name="Text Box 2"/>
          <p:cNvSpPr txBox="1"/>
          <p:nvPr/>
        </p:nvSpPr>
        <p:spPr>
          <a:xfrm>
            <a:off x="7580630" y="288925"/>
            <a:ext cx="3048000" cy="306705"/>
          </a:xfrm>
          <a:prstGeom prst="rect">
            <a:avLst/>
          </a:prstGeom>
          <a:noFill/>
        </p:spPr>
        <p:txBody>
          <a:bodyPr wrap="square" rtlCol="0">
            <a:spAutoFit/>
          </a:bodyPr>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sp>
        <p:nvSpPr>
          <p:cNvPr id="3" name="Text Placeholder 2"/>
          <p:cNvSpPr>
            <a:spLocks noGrp="1"/>
          </p:cNvSpPr>
          <p:nvPr>
            <p:ph type="body" idx="1"/>
          </p:nvPr>
        </p:nvSpPr>
        <p:spPr>
          <a:xfrm>
            <a:off x="98425" y="139065"/>
            <a:ext cx="8908415" cy="4825365"/>
          </a:xfrm>
        </p:spPr>
        <p:txBody>
          <a:bodyPr/>
          <a:p>
            <a:pPr marL="114300" indent="0">
              <a:buNone/>
            </a:pPr>
            <a:endParaRPr lang="en-US"/>
          </a:p>
          <a:p>
            <a:pPr marL="114300" indent="0">
              <a:buNone/>
            </a:pPr>
            <a:endParaRPr lang="en-US"/>
          </a:p>
          <a:p>
            <a:pPr marL="114300" indent="0">
              <a:buNone/>
            </a:pPr>
            <a:r>
              <a:rPr lang="en-IN" altLang="en-US" sz="1600" b="1" u="sng">
                <a:latin typeface="Times New Roman" panose="02020603050405020304" pitchFamily="18" charset="0"/>
                <a:cs typeface="Times New Roman" panose="02020603050405020304" pitchFamily="18" charset="0"/>
              </a:rPr>
              <a:t>3)</a:t>
            </a:r>
            <a:r>
              <a:rPr lang="en-US" altLang="en-US" sz="1600" b="1" u="sng">
                <a:latin typeface="Times New Roman" panose="02020603050405020304" pitchFamily="18" charset="0"/>
                <a:cs typeface="Times New Roman" panose="02020603050405020304" pitchFamily="18" charset="0"/>
              </a:rPr>
              <a:t>Coding Skill Assessment Gaps</a:t>
            </a:r>
            <a:r>
              <a:rPr lang="en-IN" altLang="en-US" sz="1600" b="1" u="sng">
                <a:latin typeface="Times New Roman" panose="02020603050405020304" pitchFamily="18" charset="0"/>
                <a:cs typeface="Times New Roman" panose="02020603050405020304" pitchFamily="18" charset="0"/>
              </a:rPr>
              <a:t>:</a:t>
            </a:r>
            <a:endParaRPr lang="en-US" altLang="en-US"/>
          </a:p>
          <a:p>
            <a:pPr marL="114300" indent="0">
              <a:buNone/>
            </a:pPr>
            <a:r>
              <a:rPr lang="zh-CN" altLang="en-US" sz="1600">
                <a:latin typeface="Times New Roman" panose="02020603050405020304" pitchFamily="18" charset="0"/>
                <a:cs typeface="Times New Roman" panose="02020603050405020304" pitchFamily="18" charset="0"/>
              </a:rPr>
              <a:t>🔹</a:t>
            </a:r>
            <a:r>
              <a:rPr lang="en-US" altLang="en-US" sz="1600">
                <a:latin typeface="Times New Roman" panose="02020603050405020304" pitchFamily="18" charset="0"/>
                <a:cs typeface="Times New Roman" panose="02020603050405020304" pitchFamily="18" charset="0"/>
              </a:rPr>
              <a:t> No Pre-Evaluation of Coding Skills – Many applicants are unaware of their technical strengths and weaknesses before an interview.</a:t>
            </a:r>
            <a:endParaRPr lang="en-US" altLang="en-US" sz="1600">
              <a:latin typeface="Times New Roman" panose="02020603050405020304" pitchFamily="18" charset="0"/>
              <a:cs typeface="Times New Roman" panose="02020603050405020304" pitchFamily="18" charset="0"/>
            </a:endParaRPr>
          </a:p>
          <a:p>
            <a:pPr marL="114300" indent="0">
              <a:buNone/>
            </a:pPr>
            <a:r>
              <a:rPr lang="zh-CN" altLang="en-US" sz="1600">
                <a:latin typeface="Times New Roman" panose="02020603050405020304" pitchFamily="18" charset="0"/>
                <a:cs typeface="Times New Roman" panose="02020603050405020304" pitchFamily="18" charset="0"/>
              </a:rPr>
              <a:t>🔹</a:t>
            </a:r>
            <a:r>
              <a:rPr lang="en-US" altLang="en-US" sz="1600">
                <a:latin typeface="Times New Roman" panose="02020603050405020304" pitchFamily="18" charset="0"/>
                <a:cs typeface="Times New Roman" panose="02020603050405020304" pitchFamily="18" charset="0"/>
              </a:rPr>
              <a:t> Lack of AI-Based Coding Feedback – No automated system provides feedback on coding correctness, efficiency, and logic.</a:t>
            </a:r>
            <a:endParaRPr lang="en-US" altLang="en-US" sz="1600">
              <a:latin typeface="Times New Roman" panose="02020603050405020304" pitchFamily="18" charset="0"/>
              <a:cs typeface="Times New Roman" panose="02020603050405020304" pitchFamily="18" charset="0"/>
            </a:endParaRPr>
          </a:p>
          <a:p>
            <a:pPr marL="114300" indent="0">
              <a:buNone/>
            </a:pPr>
            <a:r>
              <a:rPr lang="zh-CN" altLang="en-US" sz="1600">
                <a:latin typeface="Times New Roman" panose="02020603050405020304" pitchFamily="18" charset="0"/>
                <a:cs typeface="Times New Roman" panose="02020603050405020304" pitchFamily="18" charset="0"/>
              </a:rPr>
              <a:t>🔹</a:t>
            </a:r>
            <a:r>
              <a:rPr lang="en-US" altLang="en-US" sz="1600">
                <a:latin typeface="Times New Roman" panose="02020603050405020304" pitchFamily="18" charset="0"/>
                <a:cs typeface="Times New Roman" panose="02020603050405020304" pitchFamily="18" charset="0"/>
              </a:rPr>
              <a:t> Limited Preparation for Technical Rounds – Candidates do not get a realistic coding challenge experience before job interviews.</a:t>
            </a:r>
            <a:endParaRPr lang="en-US" altLang="en-US" sz="1600">
              <a:latin typeface="Times New Roman" panose="02020603050405020304" pitchFamily="18" charset="0"/>
              <a:cs typeface="Times New Roman" panose="02020603050405020304" pitchFamily="18" charset="0"/>
            </a:endParaRPr>
          </a:p>
          <a:p>
            <a:pPr marL="114300" indent="0">
              <a:buNone/>
            </a:pPr>
            <a:endParaRPr lang="en-US" altLang="en-US" sz="1600">
              <a:latin typeface="Times New Roman" panose="02020603050405020304" pitchFamily="18" charset="0"/>
              <a:cs typeface="Times New Roman" panose="02020603050405020304" pitchFamily="18" charset="0"/>
            </a:endParaRPr>
          </a:p>
          <a:p>
            <a:pPr marL="114300" indent="0">
              <a:buNone/>
            </a:pPr>
            <a:r>
              <a:rPr lang="en-IN" altLang="en-US" sz="1600" b="1" u="sng">
                <a:latin typeface="Times New Roman" panose="02020603050405020304" pitchFamily="18" charset="0"/>
                <a:cs typeface="Times New Roman" panose="02020603050405020304" pitchFamily="18" charset="0"/>
              </a:rPr>
              <a:t>4)</a:t>
            </a:r>
            <a:r>
              <a:rPr lang="en-US" altLang="en-US" sz="1600" b="1" u="sng">
                <a:latin typeface="Times New Roman" panose="02020603050405020304" pitchFamily="18" charset="0"/>
                <a:cs typeface="Times New Roman" panose="02020603050405020304" pitchFamily="18" charset="0"/>
              </a:rPr>
              <a:t>Lack of a Centralized Career Development Platform</a:t>
            </a:r>
            <a:r>
              <a:rPr lang="en-IN" altLang="en-US" sz="1600" b="1" u="sng">
                <a:latin typeface="Times New Roman" panose="02020603050405020304" pitchFamily="18" charset="0"/>
                <a:cs typeface="Times New Roman" panose="02020603050405020304" pitchFamily="18" charset="0"/>
              </a:rPr>
              <a:t>:</a:t>
            </a:r>
            <a:endParaRPr lang="en-US" altLang="en-US" sz="1600" b="1" u="sng">
              <a:latin typeface="Times New Roman" panose="02020603050405020304" pitchFamily="18" charset="0"/>
              <a:cs typeface="Times New Roman" panose="02020603050405020304" pitchFamily="18" charset="0"/>
            </a:endParaRPr>
          </a:p>
          <a:p>
            <a:pPr marL="114300" indent="0">
              <a:buNone/>
            </a:pPr>
            <a:r>
              <a:rPr lang="zh-CN" altLang="en-US" sz="1600">
                <a:latin typeface="Times New Roman" panose="02020603050405020304" pitchFamily="18" charset="0"/>
                <a:cs typeface="Times New Roman" panose="02020603050405020304" pitchFamily="18" charset="0"/>
              </a:rPr>
              <a:t>🔹</a:t>
            </a:r>
            <a:r>
              <a:rPr lang="en-US" altLang="en-US" sz="1600">
                <a:latin typeface="Times New Roman" panose="02020603050405020304" pitchFamily="18" charset="0"/>
                <a:cs typeface="Times New Roman" panose="02020603050405020304" pitchFamily="18" charset="0"/>
              </a:rPr>
              <a:t> Scattered Tools &amp; Resources – Resume analysis, job recommendations, and coding tests are spread across multiple platforms, making it hard for job seekers to track progress.</a:t>
            </a:r>
            <a:endParaRPr lang="en-US" altLang="en-US" sz="1600">
              <a:latin typeface="Times New Roman" panose="02020603050405020304" pitchFamily="18" charset="0"/>
              <a:cs typeface="Times New Roman" panose="02020603050405020304" pitchFamily="18" charset="0"/>
            </a:endParaRPr>
          </a:p>
          <a:p>
            <a:pPr marL="114300" indent="0">
              <a:buNone/>
            </a:pPr>
            <a:r>
              <a:rPr lang="zh-CN" altLang="en-US" sz="1600">
                <a:latin typeface="Times New Roman" panose="02020603050405020304" pitchFamily="18" charset="0"/>
                <a:cs typeface="Times New Roman" panose="02020603050405020304" pitchFamily="18" charset="0"/>
              </a:rPr>
              <a:t>🔹</a:t>
            </a:r>
            <a:r>
              <a:rPr lang="en-US" altLang="en-US" sz="1600">
                <a:latin typeface="Times New Roman" panose="02020603050405020304" pitchFamily="18" charset="0"/>
                <a:cs typeface="Times New Roman" panose="02020603050405020304" pitchFamily="18" charset="0"/>
              </a:rPr>
              <a:t> No Integrated AI-Driven Career Guidance – Most job portals don’t offer an all-in-one solution combining resume analysis, skill improvement, job prediction, and coding evaluation.</a:t>
            </a:r>
            <a:endParaRPr lang="en-US" altLang="en-US" sz="1600">
              <a:latin typeface="Times New Roman" panose="02020603050405020304" pitchFamily="18" charset="0"/>
              <a:cs typeface="Times New Roman" panose="02020603050405020304" pitchFamily="18" charset="0"/>
            </a:endParaRPr>
          </a:p>
        </p:txBody>
      </p:sp>
      <p:pic>
        <p:nvPicPr>
          <p:cNvPr id="4" name="Picture 3" descr="RVCE LOGO"/>
          <p:cNvPicPr>
            <a:picLocks noChangeAspect="1"/>
          </p:cNvPicPr>
          <p:nvPr/>
        </p:nvPicPr>
        <p:blipFill>
          <a:blip r:embed="rId1"/>
          <a:stretch>
            <a:fillRect/>
          </a:stretch>
        </p:blipFill>
        <p:spPr>
          <a:xfrm>
            <a:off x="311150" y="85090"/>
            <a:ext cx="1844675" cy="8007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Problem Formulation </a:t>
            </a:r>
            <a:endParaRPr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25"/>
          <p:cNvSpPr txBox="1">
            <a:spLocks noGrp="1"/>
          </p:cNvSpPr>
          <p:nvPr>
            <p:ph type="body" idx="1"/>
          </p:nvPr>
        </p:nvSpPr>
        <p:spPr>
          <a:xfrm>
            <a:off x="-142240" y="968375"/>
            <a:ext cx="9173210" cy="4010660"/>
          </a:xfrm>
          <a:prstGeom prst="rect">
            <a:avLst/>
          </a:prstGeom>
          <a:noFill/>
          <a:ln>
            <a:noFill/>
          </a:ln>
        </p:spPr>
        <p:txBody>
          <a:bodyPr spcFirstLastPara="1" wrap="square" lIns="91425" tIns="91425" rIns="91425" bIns="91425" anchor="t" anchorCtr="0">
            <a:noAutofit/>
          </a:bodyPr>
          <a:lstStyle/>
          <a:p>
            <a:pPr>
              <a:buNone/>
            </a:pPr>
            <a:r>
              <a:rPr lang="en-US" dirty="0">
                <a:latin typeface="Times New Roman" panose="02020603050405020304" pitchFamily="18" charset="0"/>
                <a:cs typeface="Times New Roman" panose="02020603050405020304" pitchFamily="18" charset="0"/>
              </a:rPr>
              <a:t>      </a:t>
            </a:r>
            <a:r>
              <a:rPr lang="zh-C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"Many job seekers struggle to create an optimized resume that passes ATS screening and showcases their skills effectively. Additionally, assessing technical competency for job applications requires coding evaluations, which are often missing in traditional hiring processes."</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1)</a:t>
            </a:r>
            <a:r>
              <a:rPr lang="en-US" altLang="en-US"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Lack of Personalized Resume Feedback</a:t>
            </a:r>
            <a:r>
              <a:rPr lang="en-IN" altLang="en-US"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Job seekers do not get real-time, AI-driven improvement suggestions to enhance their resumes.</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Manual improvements take time and effort, with no guarantee of success.</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2)</a:t>
            </a:r>
            <a:r>
              <a:rPr lang="en-US" altLang="en-US"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 AI-Based Job &amp; Internship Matching</a:t>
            </a:r>
            <a:r>
              <a:rPr lang="en-IN" altLang="en-US" b="1" u="sng"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Most job seekers rely on random applications instead of targeted job suggestions based on their profile.</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r>
              <a:rPr lang="en-IN"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Lack of smart job recommendations based on AI predictions.</a:t>
            </a: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buNone/>
            </a:pPr>
            <a:endParaRPr lang="en-US" altLang="en-US"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1785" y="551815"/>
            <a:ext cx="8520430" cy="466090"/>
          </a:xfrm>
        </p:spPr>
        <p:txBody>
          <a:bodyPr>
            <a:normAutofit fontScale="90000"/>
          </a:bodyPr>
          <a:p>
            <a:r>
              <a:rPr lang="en-IN" altLang="en-US"/>
              <a:t>                                                                                                              </a:t>
            </a:r>
            <a:endParaRPr lang="en-IN" altLang="en-US"/>
          </a:p>
        </p:txBody>
      </p:sp>
      <p:sp>
        <p:nvSpPr>
          <p:cNvPr id="4" name="Text Placeholder 3"/>
          <p:cNvSpPr/>
          <p:nvPr>
            <p:ph type="body" idx="1"/>
          </p:nvPr>
        </p:nvSpPr>
        <p:spPr>
          <a:xfrm>
            <a:off x="137160" y="147320"/>
            <a:ext cx="8695055" cy="4421505"/>
          </a:xfrm>
        </p:spPr>
        <p:txBody>
          <a:bodyPr/>
          <a:p>
            <a:pPr marL="114300" indent="0">
              <a:buNone/>
            </a:pPr>
            <a:endParaRPr lang="en-IN" altLang="en-US" b="1" u="sng">
              <a:latin typeface="Times New Roman" panose="02020603050405020304" pitchFamily="18" charset="0"/>
              <a:cs typeface="Times New Roman" panose="02020603050405020304" pitchFamily="18" charset="0"/>
            </a:endParaRPr>
          </a:p>
          <a:p>
            <a:pPr marL="114300" indent="0">
              <a:buNone/>
            </a:pPr>
            <a:endParaRPr lang="en-IN" altLang="en-US" b="1" u="sng">
              <a:latin typeface="Times New Roman" panose="02020603050405020304" pitchFamily="18" charset="0"/>
              <a:cs typeface="Times New Roman" panose="02020603050405020304" pitchFamily="18" charset="0"/>
            </a:endParaRPr>
          </a:p>
          <a:p>
            <a:pPr marL="114300" indent="0">
              <a:buNone/>
            </a:pPr>
            <a:endParaRPr lang="en-IN" altLang="en-US" b="1" u="sng">
              <a:latin typeface="Times New Roman" panose="02020603050405020304" pitchFamily="18" charset="0"/>
              <a:cs typeface="Times New Roman" panose="02020603050405020304" pitchFamily="18" charset="0"/>
            </a:endParaRPr>
          </a:p>
          <a:p>
            <a:pPr marL="114300" indent="0">
              <a:buNone/>
            </a:pPr>
            <a:r>
              <a:rPr lang="en-IN" altLang="en-US" b="1" u="sng">
                <a:latin typeface="Times New Roman" panose="02020603050405020304" pitchFamily="18" charset="0"/>
                <a:cs typeface="Times New Roman" panose="02020603050405020304" pitchFamily="18" charset="0"/>
              </a:rPr>
              <a:t>3)</a:t>
            </a:r>
            <a:r>
              <a:rPr lang="en-US" altLang="en-US" b="1" u="sng">
                <a:latin typeface="Times New Roman" panose="02020603050405020304" pitchFamily="18" charset="0"/>
                <a:cs typeface="Times New Roman" panose="02020603050405020304" pitchFamily="18" charset="0"/>
              </a:rPr>
              <a:t>Coding Skills Evaluation Gap</a:t>
            </a:r>
            <a:r>
              <a:rPr lang="en-IN" altLang="en-US" b="1" u="sng">
                <a:latin typeface="Times New Roman" panose="02020603050405020304" pitchFamily="18" charset="0"/>
                <a:cs typeface="Times New Roman" panose="02020603050405020304" pitchFamily="18" charset="0"/>
              </a:rPr>
              <a:t>:</a:t>
            </a:r>
            <a:endParaRPr lang="en-US" altLang="en-US" b="1" u="sng">
              <a:latin typeface="Times New Roman" panose="02020603050405020304" pitchFamily="18" charset="0"/>
              <a:cs typeface="Times New Roman" panose="02020603050405020304" pitchFamily="18" charset="0"/>
            </a:endParaRPr>
          </a:p>
          <a:p>
            <a:pPr marL="114300" indent="0">
              <a:buNone/>
            </a:pP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Many companies assess technical skills through coding tests, but candidates lack pre-evaluation before actual interviews.</a:t>
            </a:r>
            <a:endParaRPr lang="en-US" altLang="en-US">
              <a:latin typeface="Times New Roman" panose="02020603050405020304" pitchFamily="18" charset="0"/>
              <a:cs typeface="Times New Roman" panose="02020603050405020304" pitchFamily="18" charset="0"/>
            </a:endParaRPr>
          </a:p>
          <a:p>
            <a:pPr marL="114300" indent="0">
              <a:buNone/>
            </a:pP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No automated system evaluates coding correctness, efficiency, and problem-solving ability.</a:t>
            </a:r>
            <a:endParaRPr lang="en-US" altLang="en-US">
              <a:latin typeface="Times New Roman" panose="02020603050405020304" pitchFamily="18" charset="0"/>
              <a:cs typeface="Times New Roman" panose="02020603050405020304" pitchFamily="18" charset="0"/>
            </a:endParaRPr>
          </a:p>
          <a:p>
            <a:pPr marL="114300" indent="0">
              <a:buNone/>
            </a:pPr>
            <a:endParaRPr lang="en-US" altLang="en-US">
              <a:latin typeface="Times New Roman" panose="02020603050405020304" pitchFamily="18" charset="0"/>
              <a:cs typeface="Times New Roman" panose="02020603050405020304" pitchFamily="18" charset="0"/>
            </a:endParaRPr>
          </a:p>
          <a:p>
            <a:pPr marL="114300" indent="0">
              <a:buNone/>
            </a:pPr>
            <a:r>
              <a:rPr lang="en-IN" altLang="en-US" b="1" u="sng">
                <a:latin typeface="Times New Roman" panose="02020603050405020304" pitchFamily="18" charset="0"/>
                <a:cs typeface="Times New Roman" panose="02020603050405020304" pitchFamily="18" charset="0"/>
              </a:rPr>
              <a:t>4)</a:t>
            </a:r>
            <a:r>
              <a:rPr lang="en-US" altLang="en-US" b="1" u="sng">
                <a:latin typeface="Times New Roman" panose="02020603050405020304" pitchFamily="18" charset="0"/>
                <a:cs typeface="Times New Roman" panose="02020603050405020304" pitchFamily="18" charset="0"/>
              </a:rPr>
              <a:t>No Competitive Benchmarking (Leaderboard)</a:t>
            </a:r>
            <a:r>
              <a:rPr lang="en-IN" altLang="en-US" b="1" u="sng">
                <a:latin typeface="Times New Roman" panose="02020603050405020304" pitchFamily="18" charset="0"/>
                <a:cs typeface="Times New Roman" panose="02020603050405020304" pitchFamily="18" charset="0"/>
              </a:rPr>
              <a:t>:</a:t>
            </a:r>
            <a:endParaRPr lang="en-US" altLang="en-US" b="1" u="sng">
              <a:latin typeface="Times New Roman" panose="02020603050405020304" pitchFamily="18" charset="0"/>
              <a:cs typeface="Times New Roman" panose="02020603050405020304" pitchFamily="18" charset="0"/>
            </a:endParaRPr>
          </a:p>
          <a:p>
            <a:pPr marL="114300" indent="0">
              <a:buNone/>
            </a:pP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Candidates don’t have a performance ranking system to assess how they compare to peers.</a:t>
            </a:r>
            <a:endParaRPr lang="en-US" altLang="en-US">
              <a:latin typeface="Times New Roman" panose="02020603050405020304" pitchFamily="18" charset="0"/>
              <a:cs typeface="Times New Roman" panose="02020603050405020304" pitchFamily="18" charset="0"/>
            </a:endParaRPr>
          </a:p>
          <a:p>
            <a:pPr marL="114300" indent="0">
              <a:buNone/>
            </a:pP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No motivation mechanism to improve skills and resume strength.</a:t>
            </a:r>
            <a:endParaRPr lang="en-US" altLang="en-US">
              <a:latin typeface="Times New Roman" panose="02020603050405020304" pitchFamily="18" charset="0"/>
              <a:cs typeface="Times New Roman" panose="02020603050405020304" pitchFamily="18" charset="0"/>
            </a:endParaRPr>
          </a:p>
        </p:txBody>
      </p:sp>
      <p:pic>
        <p:nvPicPr>
          <p:cNvPr id="5" name="Picture 4" descr="RVCE LOGO"/>
          <p:cNvPicPr>
            <a:picLocks noChangeAspect="1"/>
          </p:cNvPicPr>
          <p:nvPr/>
        </p:nvPicPr>
        <p:blipFill>
          <a:blip r:embed="rId1"/>
          <a:stretch>
            <a:fillRect/>
          </a:stretch>
        </p:blipFill>
        <p:spPr>
          <a:xfrm>
            <a:off x="236220" y="100965"/>
            <a:ext cx="2193290" cy="8680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Project Objectives </a:t>
            </a:r>
            <a:endParaRPr sz="24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Placeholder 1"/>
          <p:cNvSpPr>
            <a:spLocks noGrp="1" noChangeArrowheads="1"/>
          </p:cNvSpPr>
          <p:nvPr>
            <p:ph type="body" idx="1"/>
          </p:nvPr>
        </p:nvSpPr>
        <p:spPr bwMode="auto">
          <a:xfrm>
            <a:off x="113030" y="1045845"/>
            <a:ext cx="8675370" cy="3347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1)To </a:t>
            </a:r>
            <a:r>
              <a:rPr lang="en-US" altLang="en-US" sz="1600" dirty="0">
                <a:solidFill>
                  <a:srgbClr val="000000"/>
                </a:solidFill>
                <a:latin typeface="Times New Roman" panose="02020603050405020304" pitchFamily="18" charset="0"/>
                <a:cs typeface="Times New Roman" panose="02020603050405020304" pitchFamily="18" charset="0"/>
              </a:rPr>
              <a:t>Enhance Resume Quality &amp; ATS Compatibility</a:t>
            </a:r>
            <a:r>
              <a:rPr lang="en-IN" altLang="en-US" sz="1600" dirty="0">
                <a:solidFill>
                  <a:srgbClr val="000000"/>
                </a:solidFill>
                <a:latin typeface="Times New Roman" panose="02020603050405020304" pitchFamily="18" charset="0"/>
                <a:cs typeface="Times New Roman" panose="02020603050405020304" pitchFamily="18" charset="0"/>
              </a:rPr>
              <a:t>.</a:t>
            </a:r>
            <a:br>
              <a:rPr lang="en-US" altLang="en-US" sz="1600" dirty="0">
                <a:solidFill>
                  <a:srgbClr val="000000"/>
                </a:solidFill>
                <a:latin typeface="Times New Roman" panose="02020603050405020304" pitchFamily="18" charset="0"/>
                <a:cs typeface="Times New Roman" panose="02020603050405020304" pitchFamily="18" charset="0"/>
              </a:rPr>
            </a:b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2)</a:t>
            </a:r>
            <a:r>
              <a:rPr lang="en-US" altLang="en-US" sz="1600" dirty="0">
                <a:solidFill>
                  <a:srgbClr val="000000"/>
                </a:solidFill>
                <a:latin typeface="Times New Roman" panose="02020603050405020304" pitchFamily="18" charset="0"/>
                <a:cs typeface="Times New Roman" panose="02020603050405020304" pitchFamily="18" charset="0"/>
              </a:rPr>
              <a:t>To provide</a:t>
            </a:r>
            <a:r>
              <a:rPr lang="en-IN" altLang="en-US" sz="1600" dirty="0">
                <a:solidFill>
                  <a:srgbClr val="000000"/>
                </a:solidFill>
                <a:latin typeface="Times New Roman" panose="02020603050405020304" pitchFamily="18" charset="0"/>
                <a:cs typeface="Times New Roman" panose="02020603050405020304" pitchFamily="18" charset="0"/>
              </a:rPr>
              <a:t> </a:t>
            </a:r>
            <a:r>
              <a:rPr lang="en-US" altLang="en-US" sz="1600" dirty="0">
                <a:solidFill>
                  <a:srgbClr val="000000"/>
                </a:solidFill>
                <a:latin typeface="Times New Roman" panose="02020603050405020304" pitchFamily="18" charset="0"/>
                <a:cs typeface="Times New Roman" panose="02020603050405020304" pitchFamily="18" charset="0"/>
              </a:rPr>
              <a:t>Personalized Resume Improvement Suggestions</a:t>
            </a:r>
            <a:r>
              <a:rPr lang="en-IN" altLang="en-US" sz="1600" dirty="0">
                <a:solidFill>
                  <a:srgbClr val="000000"/>
                </a:solidFill>
                <a:latin typeface="Times New Roman" panose="02020603050405020304" pitchFamily="18" charset="0"/>
                <a:cs typeface="Times New Roman" panose="02020603050405020304" pitchFamily="18" charset="0"/>
              </a:rPr>
              <a:t>.</a:t>
            </a: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Char char="•"/>
            </a:pP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3)</a:t>
            </a:r>
            <a:r>
              <a:rPr lang="en-US" altLang="en-US" sz="1600" dirty="0">
                <a:solidFill>
                  <a:srgbClr val="000000"/>
                </a:solidFill>
                <a:latin typeface="Times New Roman" panose="02020603050405020304" pitchFamily="18" charset="0"/>
                <a:cs typeface="Times New Roman" panose="02020603050405020304" pitchFamily="18" charset="0"/>
              </a:rPr>
              <a:t>To develop</a:t>
            </a:r>
            <a:r>
              <a:rPr lang="en-IN" altLang="en-US" sz="1600" dirty="0">
                <a:solidFill>
                  <a:srgbClr val="000000"/>
                </a:solidFill>
                <a:latin typeface="Times New Roman" panose="02020603050405020304" pitchFamily="18" charset="0"/>
                <a:cs typeface="Times New Roman" panose="02020603050405020304" pitchFamily="18" charset="0"/>
              </a:rPr>
              <a:t>  </a:t>
            </a:r>
            <a:r>
              <a:rPr lang="en-US" altLang="en-US" sz="1600" dirty="0">
                <a:solidFill>
                  <a:srgbClr val="000000"/>
                </a:solidFill>
                <a:latin typeface="Times New Roman" panose="02020603050405020304" pitchFamily="18" charset="0"/>
                <a:cs typeface="Times New Roman" panose="02020603050405020304" pitchFamily="18" charset="0"/>
              </a:rPr>
              <a:t>AI-Based Job Role &amp; Internship Predictions</a:t>
            </a:r>
            <a:r>
              <a:rPr lang="en-IN" altLang="en-US" sz="1600" dirty="0">
                <a:solidFill>
                  <a:srgbClr val="000000"/>
                </a:solidFill>
                <a:latin typeface="Times New Roman" panose="02020603050405020304" pitchFamily="18" charset="0"/>
                <a:cs typeface="Times New Roman" panose="02020603050405020304" pitchFamily="18" charset="0"/>
              </a:rPr>
              <a:t>.</a:t>
            </a: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Char char="•"/>
            </a:pP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4)</a:t>
            </a:r>
            <a:r>
              <a:rPr lang="en-US" altLang="en-US" sz="1600" dirty="0">
                <a:solidFill>
                  <a:srgbClr val="000000"/>
                </a:solidFill>
                <a:latin typeface="Times New Roman" panose="02020603050405020304" pitchFamily="18" charset="0"/>
                <a:cs typeface="Times New Roman" panose="02020603050405020304" pitchFamily="18" charset="0"/>
              </a:rPr>
              <a:t>To gamify</a:t>
            </a:r>
            <a:r>
              <a:rPr lang="en-IN" altLang="en-US" sz="1600" dirty="0">
                <a:solidFill>
                  <a:srgbClr val="000000"/>
                </a:solidFill>
                <a:latin typeface="Times New Roman" panose="02020603050405020304" pitchFamily="18" charset="0"/>
                <a:cs typeface="Times New Roman" panose="02020603050405020304" pitchFamily="18" charset="0"/>
              </a:rPr>
              <a:t>  </a:t>
            </a:r>
            <a:r>
              <a:rPr lang="en-US" altLang="en-US" sz="1600" dirty="0">
                <a:solidFill>
                  <a:srgbClr val="000000"/>
                </a:solidFill>
                <a:latin typeface="Times New Roman" panose="02020603050405020304" pitchFamily="18" charset="0"/>
                <a:cs typeface="Times New Roman" panose="02020603050405020304" pitchFamily="18" charset="0"/>
              </a:rPr>
              <a:t>Gamified Skill Evaluation – Coding Test &amp; Leaderboard</a:t>
            </a:r>
            <a:r>
              <a:rPr lang="en-IN" altLang="en-US" sz="1600" dirty="0">
                <a:solidFill>
                  <a:srgbClr val="000000"/>
                </a:solidFill>
                <a:latin typeface="Times New Roman" panose="02020603050405020304" pitchFamily="18" charset="0"/>
                <a:cs typeface="Times New Roman" panose="02020603050405020304" pitchFamily="18" charset="0"/>
              </a:rPr>
              <a:t>.</a:t>
            </a:r>
            <a:br>
              <a:rPr lang="en-US" altLang="en-US" sz="1600" dirty="0">
                <a:solidFill>
                  <a:srgbClr val="000000"/>
                </a:solidFill>
                <a:latin typeface="Times New Roman" panose="02020603050405020304" pitchFamily="18" charset="0"/>
                <a:cs typeface="Times New Roman" panose="02020603050405020304" pitchFamily="18" charset="0"/>
              </a:rPr>
            </a:b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5)</a:t>
            </a:r>
            <a:r>
              <a:rPr lang="en-US" altLang="en-US" sz="1600" dirty="0">
                <a:solidFill>
                  <a:srgbClr val="000000"/>
                </a:solidFill>
                <a:latin typeface="Times New Roman" panose="02020603050405020304" pitchFamily="18" charset="0"/>
                <a:cs typeface="Times New Roman" panose="02020603050405020304" pitchFamily="18" charset="0"/>
              </a:rPr>
              <a:t>To ensure a</a:t>
            </a:r>
            <a:r>
              <a:rPr lang="en-US" altLang="en-US" sz="1600" dirty="0">
                <a:solidFill>
                  <a:srgbClr val="000000"/>
                </a:solidFill>
                <a:latin typeface="Times New Roman" panose="02020603050405020304" pitchFamily="18" charset="0"/>
                <a:cs typeface="Times New Roman" panose="02020603050405020304" pitchFamily="18" charset="0"/>
              </a:rPr>
              <a:t> Seamless User Experience &amp; Engagement</a:t>
            </a:r>
            <a:r>
              <a:rPr lang="en-IN" altLang="en-US" sz="1600" dirty="0">
                <a:solidFill>
                  <a:srgbClr val="000000"/>
                </a:solidFill>
                <a:latin typeface="Times New Roman" panose="02020603050405020304" pitchFamily="18" charset="0"/>
                <a:cs typeface="Times New Roman" panose="02020603050405020304" pitchFamily="18" charset="0"/>
              </a:rPr>
              <a:t>.</a:t>
            </a: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endParaRPr lang="en-US" altLang="en-US" sz="1600" dirty="0">
              <a:solidFill>
                <a:srgbClr val="000000"/>
              </a:solidFill>
              <a:latin typeface="Times New Roman" panose="02020603050405020304" pitchFamily="18" charset="0"/>
              <a:cs typeface="Times New Roman" panose="02020603050405020304" pitchFamily="18" charset="0"/>
            </a:endParaRPr>
          </a:p>
          <a:p>
            <a:pPr marL="0" lvl="0" indent="0" defTabSz="914400" eaLnBrk="0" fontAlgn="base" latinLnBrk="0" hangingPunct="0">
              <a:lnSpc>
                <a:spcPct val="100000"/>
              </a:lnSpc>
              <a:buClr>
                <a:srgbClr val="000000"/>
              </a:buClr>
              <a:buSzTx/>
              <a:buFontTx/>
              <a:buNone/>
            </a:pPr>
            <a:r>
              <a:rPr lang="en-IN" altLang="en-US" sz="1600" dirty="0">
                <a:solidFill>
                  <a:srgbClr val="000000"/>
                </a:solidFill>
                <a:latin typeface="Times New Roman" panose="02020603050405020304" pitchFamily="18" charset="0"/>
                <a:cs typeface="Times New Roman" panose="02020603050405020304" pitchFamily="18" charset="0"/>
              </a:rPr>
              <a:t> 6)</a:t>
            </a:r>
            <a:r>
              <a:rPr lang="en-US" altLang="en-US" sz="1600" dirty="0">
                <a:solidFill>
                  <a:srgbClr val="000000"/>
                </a:solidFill>
                <a:latin typeface="Times New Roman" panose="02020603050405020304" pitchFamily="18" charset="0"/>
                <a:cs typeface="Times New Roman" panose="02020603050405020304" pitchFamily="18" charset="0"/>
              </a:rPr>
              <a:t>To build a</a:t>
            </a:r>
            <a:r>
              <a:rPr lang="en-IN" altLang="en-US" sz="1600" dirty="0">
                <a:solidFill>
                  <a:srgbClr val="000000"/>
                </a:solidFill>
                <a:latin typeface="Times New Roman" panose="02020603050405020304" pitchFamily="18" charset="0"/>
                <a:cs typeface="Times New Roman" panose="02020603050405020304" pitchFamily="18" charset="0"/>
              </a:rPr>
              <a:t> </a:t>
            </a:r>
            <a:r>
              <a:rPr lang="en-US" altLang="en-US" sz="1600" dirty="0">
                <a:solidFill>
                  <a:srgbClr val="000000"/>
                </a:solidFill>
                <a:latin typeface="Times New Roman" panose="02020603050405020304" pitchFamily="18" charset="0"/>
                <a:cs typeface="Times New Roman" panose="02020603050405020304" pitchFamily="18" charset="0"/>
              </a:rPr>
              <a:t>Secure &amp; Scalable Platform</a:t>
            </a:r>
            <a:r>
              <a:rPr lang="en-IN" altLang="en-US" sz="1600" dirty="0">
                <a:solidFill>
                  <a:srgbClr val="000000"/>
                </a:solidFill>
                <a:latin typeface="Times New Roman" panose="02020603050405020304" pitchFamily="18" charset="0"/>
                <a:cs typeface="Times New Roman" panose="02020603050405020304" pitchFamily="18" charset="0"/>
              </a:rPr>
              <a:t>.</a:t>
            </a:r>
            <a:endParaRPr lang="en-IN" altLang="en-US" sz="16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400" b="1">
                <a:latin typeface="Times New Roman" panose="02020603050405020304"/>
                <a:ea typeface="Times New Roman" panose="02020603050405020304"/>
                <a:cs typeface="Times New Roman" panose="02020603050405020304"/>
                <a:sym typeface="Times New Roman" panose="02020603050405020304"/>
              </a:rPr>
              <a:t>References</a:t>
            </a:r>
            <a:endParaRPr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21" name="Google Shape;121;p24"/>
          <p:cNvSpPr txBox="1">
            <a:spLocks noGrp="1"/>
          </p:cNvSpPr>
          <p:nvPr>
            <p:ph type="body" idx="1"/>
          </p:nvPr>
        </p:nvSpPr>
        <p:spPr>
          <a:xfrm>
            <a:off x="146756" y="968910"/>
            <a:ext cx="8884500" cy="4010100"/>
          </a:xfrm>
          <a:prstGeom prst="rect">
            <a:avLst/>
          </a:prstGeom>
          <a:noFill/>
          <a:ln>
            <a:noFill/>
          </a:ln>
        </p:spPr>
        <p:txBody>
          <a:bodyPr spcFirstLastPara="1" wrap="square" lIns="91425" tIns="91425" rIns="91425" bIns="91425" anchor="t" anchorCtr="0">
            <a:noAutofit/>
          </a:bodyPr>
          <a:lstStyle/>
          <a:p>
            <a:pPr marL="285750" lvl="0" indent="-171450" algn="l" rtl="0">
              <a:lnSpc>
                <a:spcPct val="115000"/>
              </a:lnSpc>
              <a:spcBef>
                <a:spcPts val="0"/>
              </a:spcBef>
              <a:spcAft>
                <a:spcPts val="0"/>
              </a:spcAft>
              <a:buSzPts val="1800"/>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1200"/>
              </a:spcAft>
              <a:buSzPts val="1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24"/>
          <p:cNvSpPr txBox="1"/>
          <p:nvPr/>
        </p:nvSpPr>
        <p:spPr>
          <a:xfrm>
            <a:off x="146756" y="1040460"/>
            <a:ext cx="8884500" cy="4010100"/>
          </a:xfrm>
          <a:prstGeom prst="rect">
            <a:avLst/>
          </a:prstGeom>
          <a:noFill/>
          <a:ln>
            <a:noFill/>
          </a:ln>
        </p:spPr>
        <p:txBody>
          <a:bodyPr spcFirstLastPara="1" wrap="square" lIns="91425" tIns="91425" rIns="91425" bIns="91425" anchor="t" anchorCtr="0">
            <a:noAutofit/>
          </a:bodyPr>
          <a:lstStyle/>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V. Nawander, S. Elma, A. Karthikeya, M. K. Yadav, S. K. Kotala, M. D. N. Akash,Intl. Res. J. Engg. Tech 9, 10 (2022)</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[2]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A. K. Sinha, A. K. Akhtar, A. Kumar, Resume Screening Using Natural LanguageProcessing and Machine Learning: A Systematic Review. In: Swain, D., Pattnaik, P.K.,Athawale, T. (eds) Machine Learning and Information Processing. Advances in</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Intelligent Systems and Computing, Springer, Singapore, 1311 (2020)</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[3]</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R. P. Ram Kumar, P. Sanjeeva, Intl. J. Recent Tech Engg 7, 5 (2019)</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[4]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M. N. Mohammad, Ch. U. Kumari, A. S. D. Murthy, B. O. L. Jagan, K. Saikumar,Mater. Today Proc. 45 (2021)</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[5]</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B. Sankara Babu, S. Nalajala, K. Sarada, V. Muniraju Naidu, N. Yamsani, K.Saikumar, Machine Learning based online Handwritten Telugu Letters Recognition for</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Different Domains, in Proceedings of A Fusion of Artificial Intelligence and Internet</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of Things for Emerging Cyber Systems, P. Kumar, A. J. Obaid, K. Cengiz, A. Khanna,</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[6]</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M. Thejaswee, V. Srilakshmi, K. Anuradha, G. Karuna, Performance Analysis ofMachine Learning Algorithms for Text Classification, in Proceedings of the Advanced</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Informatics for Computing Research (ICAICR 2020), A. K. Luhach, D. S. Jat, K. H.Bin Ghazali, Gao, P. Lingras, (eds), Comm. Comp. Inform. Sci. Springer, Singapore</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1393 (2021)</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1200"/>
              </a:spcBef>
              <a:spcAft>
                <a:spcPts val="1200"/>
              </a:spcAft>
              <a:buNone/>
            </a:pPr>
            <a:endParaRPr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RVCE LOGO"/>
          <p:cNvPicPr>
            <a:picLocks noChangeAspect="1"/>
          </p:cNvPicPr>
          <p:nvPr/>
        </p:nvPicPr>
        <p:blipFill>
          <a:blip r:embed="rId1"/>
          <a:stretch>
            <a:fillRect/>
          </a:stretch>
        </p:blipFill>
        <p:spPr>
          <a:xfrm>
            <a:off x="350520" y="100965"/>
            <a:ext cx="2193290" cy="8680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1862667" y="16455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a:latin typeface="Times New Roman" panose="02020603050405020304"/>
                <a:ea typeface="Times New Roman" panose="02020603050405020304"/>
                <a:cs typeface="Times New Roman" panose="02020603050405020304"/>
                <a:sym typeface="Times New Roman" panose="02020603050405020304"/>
              </a:rPr>
              <a:t>                                                                    </a:t>
            </a:r>
            <a:endParaRPr lang="en-IN"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128" name="Google Shape;128;p25"/>
          <p:cNvSpPr txBox="1">
            <a:spLocks noGrp="1"/>
          </p:cNvSpPr>
          <p:nvPr>
            <p:ph type="body" idx="1"/>
          </p:nvPr>
        </p:nvSpPr>
        <p:spPr>
          <a:xfrm>
            <a:off x="146756" y="968910"/>
            <a:ext cx="8884500" cy="4010100"/>
          </a:xfrm>
          <a:prstGeom prst="rect">
            <a:avLst/>
          </a:prstGeom>
          <a:noFill/>
          <a:ln>
            <a:noFill/>
          </a:ln>
        </p:spPr>
        <p:txBody>
          <a:bodyPr spcFirstLastPara="1" wrap="square" lIns="91425" tIns="91425" rIns="91425" bIns="91425" anchor="t" anchorCtr="0">
            <a:noAutofit/>
          </a:bodyPr>
          <a:lstStyle/>
          <a:p>
            <a:pPr marL="285750" lvl="0" indent="-171450" algn="l" rtl="0">
              <a:lnSpc>
                <a:spcPct val="115000"/>
              </a:lnSpc>
              <a:spcBef>
                <a:spcPts val="0"/>
              </a:spcBef>
              <a:spcAft>
                <a:spcPts val="0"/>
              </a:spcAft>
              <a:buSzPts val="1800"/>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1200"/>
              </a:spcAft>
              <a:buSzPts val="1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9" name="Google Shape;129;p25"/>
          <p:cNvSpPr txBox="1"/>
          <p:nvPr/>
        </p:nvSpPr>
        <p:spPr>
          <a:xfrm>
            <a:off x="146685" y="164465"/>
            <a:ext cx="8884285" cy="48152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sz="1200">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endPar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[7]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R. P. Ram Kumar, P. Sanjeeva, S. F. Lazarus, D. V. Krishna, Intl. J. Inno. Tech.Explor. Engg 8, 11S2 (2019)</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[8]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Thimma Reddy Kalva, Utah State University,2013. Skill-Finder: Automated Job-Resume Matching system. 3]Yong Luo, Nanyang</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Technological University, 2018. A Learning-Based Framework for automatic resume quality assessment, arXiv:1810.02832v1</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cs.IR].</a:t>
            </a: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[9]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Arvind Kumar Sinha, Ashwani Kumar, Md. Amir Khusru Akhtar., Resume Screening using Natural Language Processing and</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Machine Learning a Systematic Review”, (2019)., Machine Learning and Information Processing: Proceedings of ICMLIP</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[10]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Suhas H E, Manjunath AE, “Differential Hiring using a Combination of NER and Word Embedding”, In 2020 International Journal</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of Recent Technology and Engineering (IJRTE), ISSN: 2277-3878, Vol.9.</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[11]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Y. Luo, Y. Wen, T. Liu, and D. Tao, “Transferring knowledge fragments for Learning distance metric from a heterogeneous</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domain,” IEEE Transactions on Pattern Analysis and Machine Intelligence, 2018</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[12]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Sujit Amin; Nikita Jayakar; Sonia Sunny; Pheba Babu; M. Kiruthika; Ambarish Gurjar, “Web Application for Screening Resume”,</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2019 International Conference on Nascent Technologies in Engineering (ICNTE), January 2020</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0"/>
              </a:spcAft>
              <a:buNone/>
            </a:pP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[13]</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Rajath V; Riza Tanaz Fareed; Sharadadevi Kaganurmath, “Resume Classification and Ranking Using KNN And Cosine Similarity”,</a:t>
            </a:r>
            <a:r>
              <a:rPr lang="en-IN"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rPr>
              <a:t>international JOURNAL OF ENGINEERING RESEARCH &amp; TECHNOLOGY, Volume 10, Issue 08, AUGUST 2021</a:t>
            </a:r>
            <a:endParaRPr lang="en-US" altLang="en-US"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71450" algn="l" rtl="0">
              <a:lnSpc>
                <a:spcPct val="115000"/>
              </a:lnSpc>
              <a:spcBef>
                <a:spcPts val="1200"/>
              </a:spcBef>
              <a:spcAft>
                <a:spcPts val="1200"/>
              </a:spcAft>
              <a:buNone/>
            </a:pPr>
            <a:endParaRPr sz="1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RVCE LOGO"/>
          <p:cNvPicPr>
            <a:picLocks noChangeAspect="1"/>
          </p:cNvPicPr>
          <p:nvPr/>
        </p:nvPicPr>
        <p:blipFill>
          <a:blip r:embed="rId1"/>
          <a:stretch>
            <a:fillRect/>
          </a:stretch>
        </p:blipFill>
        <p:spPr>
          <a:xfrm>
            <a:off x="146685" y="85725"/>
            <a:ext cx="2096135" cy="7308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                                                                                                              </a:t>
            </a:r>
            <a:endParaRPr lang="en-IN" altLang="en-US"/>
          </a:p>
        </p:txBody>
      </p:sp>
      <p:pic>
        <p:nvPicPr>
          <p:cNvPr id="3" name="Picture 2" descr="RVCE LOGO"/>
          <p:cNvPicPr>
            <a:picLocks noChangeAspect="1"/>
          </p:cNvPicPr>
          <p:nvPr/>
        </p:nvPicPr>
        <p:blipFill>
          <a:blip r:embed="rId1"/>
          <a:stretch>
            <a:fillRect/>
          </a:stretch>
        </p:blipFill>
        <p:spPr>
          <a:xfrm>
            <a:off x="146685" y="85725"/>
            <a:ext cx="2096135" cy="730885"/>
          </a:xfrm>
          <a:prstGeom prst="rect">
            <a:avLst/>
          </a:prstGeom>
        </p:spPr>
      </p:pic>
      <p:pic>
        <p:nvPicPr>
          <p:cNvPr id="4" name="Picture 3" descr="thank-you-floral-watercolor-frame-free-vector"/>
          <p:cNvPicPr>
            <a:picLocks noChangeAspect="1"/>
          </p:cNvPicPr>
          <p:nvPr/>
        </p:nvPicPr>
        <p:blipFill>
          <a:blip r:embed="rId2"/>
          <a:stretch>
            <a:fillRect/>
          </a:stretch>
        </p:blipFill>
        <p:spPr>
          <a:xfrm>
            <a:off x="2172970" y="555625"/>
            <a:ext cx="4544695" cy="4544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704*315"/>
  <p:tag name="TABLE_ENDDRAG_RECT" val="5*76*704*315"/>
</p:tagLst>
</file>

<file path=ppt/tags/tag6.xml><?xml version="1.0" encoding="utf-8"?>
<p:tagLst xmlns:p="http://schemas.openxmlformats.org/presentationml/2006/main">
  <p:tag name="TABLE_ENDDRAG_ORIGIN_RECT" val="719*731"/>
  <p:tag name="TABLE_ENDDRAG_RECT" val="0*5*719*731"/>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11724</Words>
  <Application>WPS Presentation</Application>
  <PresentationFormat>On-screen Show (16:9)</PresentationFormat>
  <Paragraphs>461</Paragraphs>
  <Slides>21</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Times New Roman</vt:lpstr>
      <vt:lpstr>Times New Roman</vt:lpstr>
      <vt:lpstr>Microsoft YaHei</vt:lpstr>
      <vt:lpstr>Arial Unicode MS</vt:lpstr>
      <vt:lpstr>Simple Light</vt:lpstr>
      <vt:lpstr>PowerPoint 演示文稿</vt:lpstr>
      <vt:lpstr>Agenda</vt:lpstr>
      <vt:lpstr>Introduction to Topic  </vt:lpstr>
      <vt:lpstr>Topic relevance to courses </vt:lpstr>
      <vt:lpstr>                                                                                                            </vt:lpstr>
      <vt:lpstr>PowerPoint 演示文稿</vt:lpstr>
      <vt:lpstr>PowerPoint 演示文稿</vt:lpstr>
      <vt:lpstr>PowerPoint 演示文稿</vt:lpstr>
      <vt:lpstr>Literature Review </vt:lpstr>
      <vt:lpstr> </vt:lpstr>
      <vt:lpstr>PowerPoint 演示文稿</vt:lpstr>
      <vt:lpstr>Motivation    </vt:lpstr>
      <vt:lpstr>FLOW DIAGRAM</vt:lpstr>
      <vt:lpstr>Problem identification in relevant area/topic      </vt:lpstr>
      <vt:lpstr>                                                                                                             </vt:lpstr>
      <vt:lpstr>Problem Formulation </vt:lpstr>
      <vt:lpstr>                                                                                                              </vt:lpstr>
      <vt:lpstr>Project Objectives </vt:lpstr>
      <vt:lpstr>References</vt:lpstr>
      <vt:lpstr>                                                                    </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Shaswat Kumar</dc:creator>
  <cp:lastModifiedBy>PRAJWAL CS</cp:lastModifiedBy>
  <cp:revision>16</cp:revision>
  <dcterms:created xsi:type="dcterms:W3CDTF">2025-03-23T19:22:00Z</dcterms:created>
  <dcterms:modified xsi:type="dcterms:W3CDTF">2025-05-26T06:16:00Z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8D8556BA3B694F968F398A53B210F0F9_13</vt:lpwstr>
  </property>
  <property fmtid="{D5CDD505-2E9C-101B-9397-08002B2CF9AE}" pid="3" name="KSOProductBuildVer">
    <vt:lpwstr>1033-12.2.0.21179</vt:lpwstr>
  </property>
</Properties>
</file>